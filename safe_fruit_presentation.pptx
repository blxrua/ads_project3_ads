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85CD-72C7-4E5E-8B5B-7363917AF820}" type="datetimeFigureOut">
              <a:rPr lang="zh-CN" altLang="en-US" smtClean="0"/>
              <a:t>2026/10/31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594077-CAAD-42E4-9FD1-E3D88AA0D3ED}" type="slidenum">
              <a:rPr lang="zh-CN" altLang="en-US" smtClean="0"/>
              <a:t>‹#›</a:t>
            </a:fld>
            <a:endParaRPr lang="zh-CN" altLang="en-US"/>
          </a:p>
        </p:txBody>
      </p:sp>
    </p:spTree>
    <p:extLst>
      <p:ext uri="{BB962C8B-B14F-4D97-AF65-F5344CB8AC3E}">
        <p14:creationId xmlns:p14="http://schemas.microsoft.com/office/powerpoint/2010/main" val="1201140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首先承接上一个优化，分量分解已经把在整个图上的问题转为单个连通分量的问题，那一个连通图最常见的分类，也是本优化里用到的分类即有无环，无环连通图肯定是树，而树在这道题的枚举里有很强的优越性，即树有方向性，对于每个节点（除根和叶子）有父亲和孩子，我们的枚举一定是有先后的，从根出发，每个节点的能否选取都只受父节点影响，都只影响子节点，在这种方向性明确的情况下我们可以找到类马尔可夫链，选取当前节点的最高分</a:t>
            </a:r>
            <a:r>
              <a:rPr lang="en-US" altLang="zh-CN"/>
              <a:t>=</a:t>
            </a:r>
            <a:r>
              <a:rPr lang="zh-CN" altLang="en-US"/>
              <a:t>不选子节点的最高分，不选当前节点的最高分</a:t>
            </a:r>
            <a:r>
              <a:rPr lang="en-US" altLang="zh-CN"/>
              <a:t>=</a:t>
            </a:r>
            <a:r>
              <a:rPr lang="zh-CN" altLang="en-US"/>
              <a:t>选取子节点的最高分与不选取子节点的最高分中的较大值，而依据这两条链我们可以反向从递归转为递推</a:t>
            </a:r>
          </a:p>
        </p:txBody>
      </p:sp>
      <p:sp>
        <p:nvSpPr>
          <p:cNvPr id="4" name="灯片编号占位符 3"/>
          <p:cNvSpPr>
            <a:spLocks noGrp="1"/>
          </p:cNvSpPr>
          <p:nvPr>
            <p:ph type="sldNum" sz="quarter" idx="5"/>
          </p:nvPr>
        </p:nvSpPr>
        <p:spPr/>
        <p:txBody>
          <a:bodyPr/>
          <a:lstStyle/>
          <a:p>
            <a:fld id="{D3594077-CAAD-42E4-9FD1-E3D88AA0D3ED}" type="slidenum">
              <a:rPr lang="zh-CN" altLang="en-US" smtClean="0"/>
              <a:t>13</a:t>
            </a:fld>
            <a:endParaRPr lang="zh-CN" altLang="en-US"/>
          </a:p>
        </p:txBody>
      </p:sp>
    </p:spTree>
    <p:extLst>
      <p:ext uri="{BB962C8B-B14F-4D97-AF65-F5344CB8AC3E}">
        <p14:creationId xmlns:p14="http://schemas.microsoft.com/office/powerpoint/2010/main" val="721358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动态检测，计算环秩，环秩是最少移除的边数让破坏所有环结构，节点因为会连接多个边，我就按环秩</a:t>
            </a:r>
            <a:r>
              <a:rPr lang="en-US" altLang="zh-CN"/>
              <a:t>/2</a:t>
            </a:r>
            <a:r>
              <a:rPr lang="zh-CN" altLang="en-US"/>
              <a:t>来成为开始检测的节点，后续如果移除一个节点后候选里移除了除它自身的两个节点就有可能破坏了环结构，再次检测
我感觉这个环秩的一半可能有某种神秘理论优越性，因为普通的环上一个节点连两条边</a:t>
            </a:r>
          </a:p>
        </p:txBody>
      </p:sp>
      <p:sp>
        <p:nvSpPr>
          <p:cNvPr id="4" name="灯片编号占位符 3"/>
          <p:cNvSpPr>
            <a:spLocks noGrp="1"/>
          </p:cNvSpPr>
          <p:nvPr>
            <p:ph type="sldNum" sz="quarter" idx="5"/>
          </p:nvPr>
        </p:nvSpPr>
        <p:spPr/>
        <p:txBody>
          <a:bodyPr/>
          <a:lstStyle/>
          <a:p>
            <a:fld id="{D3594077-CAAD-42E4-9FD1-E3D88AA0D3ED}" type="slidenum">
              <a:rPr lang="zh-CN" altLang="en-US" smtClean="0"/>
              <a:t>15</a:t>
            </a:fld>
            <a:endParaRPr lang="zh-CN" altLang="en-US"/>
          </a:p>
        </p:txBody>
      </p:sp>
    </p:spTree>
    <p:extLst>
      <p:ext uri="{BB962C8B-B14F-4D97-AF65-F5344CB8AC3E}">
        <p14:creationId xmlns:p14="http://schemas.microsoft.com/office/powerpoint/2010/main" val="2490685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67512" y="804672"/>
            <a:ext cx="73152" cy="4251960"/>
          </a:xfrm>
          <a:prstGeom prst="rect">
            <a:avLst/>
          </a:prstGeom>
          <a:solidFill>
            <a:srgbClr val="274B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60704" y="1115568"/>
            <a:ext cx="9692640" cy="786384"/>
          </a:xfrm>
          <a:prstGeom prst="rect">
            <a:avLst/>
          </a:prstGeom>
          <a:noFill/>
        </p:spPr>
        <p:txBody>
          <a:bodyPr wrap="square" lIns="0" tIns="0" rIns="0" bIns="0" anchor="ctr">
            <a:spAutoFit/>
          </a:bodyPr>
          <a:lstStyle/>
          <a:p>
            <a:pPr algn="l">
              <a:spcAft>
                <a:spcPts val="0"/>
              </a:spcAft>
            </a:pPr>
            <a:r>
              <a:rPr sz="4200" b="1">
                <a:solidFill>
                  <a:srgbClr val="1F252A"/>
                </a:solidFill>
                <a:latin typeface="Microsoft YaHei"/>
              </a:rPr>
              <a:t>Safe Fruit</a:t>
            </a:r>
          </a:p>
        </p:txBody>
      </p:sp>
      <p:sp>
        <p:nvSpPr>
          <p:cNvPr id="5" name="TextBox 4"/>
          <p:cNvSpPr txBox="1"/>
          <p:nvPr/>
        </p:nvSpPr>
        <p:spPr>
          <a:xfrm>
            <a:off x="1060704" y="1993392"/>
            <a:ext cx="9875520" cy="667512"/>
          </a:xfrm>
          <a:prstGeom prst="rect">
            <a:avLst/>
          </a:prstGeom>
          <a:noFill/>
        </p:spPr>
        <p:txBody>
          <a:bodyPr wrap="square" lIns="0" tIns="0" rIns="0" bIns="0" anchor="ctr">
            <a:spAutoFit/>
          </a:bodyPr>
          <a:lstStyle/>
          <a:p>
            <a:pPr algn="l">
              <a:spcAft>
                <a:spcPts val="0"/>
              </a:spcAft>
            </a:pPr>
            <a:r>
              <a:rPr sz="2800" b="0">
                <a:solidFill>
                  <a:srgbClr val="1F252A"/>
                </a:solidFill>
                <a:latin typeface="Microsoft YaHei"/>
              </a:rPr>
              <a:t>从回溯到森林动态规划</a:t>
            </a:r>
          </a:p>
        </p:txBody>
      </p:sp>
      <p:cxnSp>
        <p:nvCxnSpPr>
          <p:cNvPr id="6" name="Connector 5"/>
          <p:cNvCxnSpPr/>
          <p:nvPr/>
        </p:nvCxnSpPr>
        <p:spPr>
          <a:xfrm>
            <a:off x="1060704" y="2880360"/>
            <a:ext cx="8951976"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60704" y="3154680"/>
            <a:ext cx="6858000" cy="402336"/>
          </a:xfrm>
          <a:prstGeom prst="rect">
            <a:avLst/>
          </a:prstGeom>
          <a:noFill/>
        </p:spPr>
        <p:txBody>
          <a:bodyPr wrap="square" lIns="0" tIns="0" rIns="0" bIns="0" anchor="ctr">
            <a:spAutoFit/>
          </a:bodyPr>
          <a:lstStyle/>
          <a:p>
            <a:pPr algn="l">
              <a:spcAft>
                <a:spcPts val="0"/>
              </a:spcAft>
            </a:pPr>
            <a:r>
              <a:rPr sz="1700" b="0">
                <a:solidFill>
                  <a:srgbClr val="5B636A"/>
                </a:solidFill>
                <a:latin typeface="Microsoft YaHei"/>
              </a:rPr>
              <a:t>算法设计与分析 · Project 3</a:t>
            </a:r>
          </a:p>
        </p:txBody>
      </p:sp>
      <p:sp>
        <p:nvSpPr>
          <p:cNvPr id="8" name="TextBox 7"/>
          <p:cNvSpPr txBox="1"/>
          <p:nvPr/>
        </p:nvSpPr>
        <p:spPr>
          <a:xfrm>
            <a:off x="1060704" y="3694176"/>
            <a:ext cx="7772400" cy="402336"/>
          </a:xfrm>
          <a:prstGeom prst="rect">
            <a:avLst/>
          </a:prstGeom>
          <a:noFill/>
        </p:spPr>
        <p:txBody>
          <a:bodyPr wrap="square" lIns="0" tIns="0" rIns="0" bIns="0" anchor="ctr">
            <a:spAutoFit/>
          </a:bodyPr>
          <a:lstStyle/>
          <a:p>
            <a:pPr algn="l">
              <a:spcAft>
                <a:spcPts val="0"/>
              </a:spcAft>
            </a:pPr>
            <a:r>
              <a:rPr sz="1700" b="0">
                <a:solidFill>
                  <a:srgbClr val="5B636A"/>
                </a:solidFill>
                <a:latin typeface="Microsoft YaHei"/>
              </a:rPr>
              <a:t>版本演进、消融对比与性能分析</a:t>
            </a:r>
          </a:p>
        </p:txBody>
      </p:sp>
      <p:sp>
        <p:nvSpPr>
          <p:cNvPr id="9" name="TextBox 8"/>
          <p:cNvSpPr txBox="1"/>
          <p:nvPr/>
        </p:nvSpPr>
        <p:spPr>
          <a:xfrm>
            <a:off x="1060704" y="5010912"/>
            <a:ext cx="6858000" cy="292608"/>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组长   游龙斌   3250106392</a:t>
            </a:r>
          </a:p>
        </p:txBody>
      </p:sp>
      <p:sp>
        <p:nvSpPr>
          <p:cNvPr id="10" name="TextBox 9"/>
          <p:cNvSpPr txBox="1"/>
          <p:nvPr/>
        </p:nvSpPr>
        <p:spPr>
          <a:xfrm>
            <a:off x="1060704" y="5376672"/>
            <a:ext cx="6858000" cy="292608"/>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组员   陈智锟   3250100883</a:t>
            </a:r>
          </a:p>
        </p:txBody>
      </p:sp>
      <p:sp>
        <p:nvSpPr>
          <p:cNvPr id="11" name="TextBox 10"/>
          <p:cNvSpPr txBox="1"/>
          <p:nvPr/>
        </p:nvSpPr>
        <p:spPr>
          <a:xfrm>
            <a:off x="1060704" y="5742432"/>
            <a:ext cx="6858000" cy="292608"/>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组员   黄绎睿   3250104426</a:t>
            </a:r>
          </a:p>
        </p:txBody>
      </p:sp>
      <p:sp>
        <p:nvSpPr>
          <p:cNvPr id="12" name="TextBox 11"/>
          <p:cNvSpPr txBox="1"/>
          <p:nvPr/>
        </p:nvSpPr>
        <p:spPr>
          <a:xfrm>
            <a:off x="10241280" y="6263640"/>
            <a:ext cx="1097280" cy="228600"/>
          </a:xfrm>
          <a:prstGeom prst="rect">
            <a:avLst/>
          </a:prstGeom>
          <a:noFill/>
        </p:spPr>
        <p:txBody>
          <a:bodyPr wrap="square" lIns="0" tIns="0" rIns="0" bIns="0" anchor="ctr">
            <a:spAutoFit/>
          </a:bodyPr>
          <a:lstStyle/>
          <a:p>
            <a:pPr algn="r">
              <a:spcAft>
                <a:spcPts val="0"/>
              </a:spcAft>
            </a:pPr>
            <a:r>
              <a:rPr sz="1100" b="0">
                <a:solidFill>
                  <a:srgbClr val="5B636A"/>
                </a:solidFill>
                <a:latin typeface="Microsoft YaHei"/>
              </a:rPr>
              <a:t>2026.10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问题描述</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Safe Fruit：水果选取</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02</a:t>
            </a:r>
          </a:p>
        </p:txBody>
      </p:sp>
      <p:sp>
        <p:nvSpPr>
          <p:cNvPr id="8" name="TextBox 7"/>
          <p:cNvSpPr txBox="1"/>
          <p:nvPr/>
        </p:nvSpPr>
        <p:spPr>
          <a:xfrm>
            <a:off x="777240" y="1719072"/>
            <a:ext cx="10652760" cy="457200"/>
          </a:xfrm>
          <a:prstGeom prst="rect">
            <a:avLst/>
          </a:prstGeom>
          <a:noFill/>
        </p:spPr>
        <p:txBody>
          <a:bodyPr wrap="square" lIns="0" tIns="0" rIns="0" bIns="0" anchor="ctr">
            <a:spAutoFit/>
          </a:bodyPr>
          <a:lstStyle/>
          <a:p>
            <a:pPr algn="l">
              <a:spcAft>
                <a:spcPts val="0"/>
              </a:spcAft>
            </a:pPr>
            <a:r>
              <a:rPr sz="2000" b="0">
                <a:solidFill>
                  <a:srgbClr val="1F252A"/>
                </a:solidFill>
                <a:latin typeface="Microsoft YaHei"/>
              </a:rPr>
              <a:t>从一篮水果中，选取可以安全地一起食用的水果。</a:t>
            </a:r>
          </a:p>
        </p:txBody>
      </p:sp>
      <p:cxnSp>
        <p:nvCxnSpPr>
          <p:cNvPr id="9" name="Connector 8"/>
          <p:cNvCxnSpPr/>
          <p:nvPr/>
        </p:nvCxnSpPr>
        <p:spPr>
          <a:xfrm>
            <a:off x="777240" y="2331720"/>
            <a:ext cx="106161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86384" y="2596896"/>
            <a:ext cx="1828800" cy="274320"/>
          </a:xfrm>
          <a:prstGeom prst="rect">
            <a:avLst/>
          </a:prstGeom>
          <a:noFill/>
        </p:spPr>
        <p:txBody>
          <a:bodyPr wrap="square" lIns="0" tIns="0" rIns="0" bIns="0" anchor="ctr">
            <a:spAutoFit/>
          </a:bodyPr>
          <a:lstStyle/>
          <a:p>
            <a:pPr algn="l">
              <a:spcAft>
                <a:spcPts val="0"/>
              </a:spcAft>
            </a:pPr>
            <a:r>
              <a:rPr sz="1600" b="1">
                <a:solidFill>
                  <a:srgbClr val="274B6C"/>
                </a:solidFill>
                <a:latin typeface="Microsoft YaHei"/>
              </a:rPr>
              <a:t>水果种类</a:t>
            </a:r>
          </a:p>
        </p:txBody>
      </p:sp>
      <p:sp>
        <p:nvSpPr>
          <p:cNvPr id="11" name="TextBox 10"/>
          <p:cNvSpPr txBox="1"/>
          <p:nvPr/>
        </p:nvSpPr>
        <p:spPr>
          <a:xfrm>
            <a:off x="2798064" y="2542032"/>
            <a:ext cx="8458200" cy="457200"/>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用三位编号来表示水果种类，如 001、002。</a:t>
            </a:r>
          </a:p>
        </p:txBody>
      </p:sp>
      <p:sp>
        <p:nvSpPr>
          <p:cNvPr id="12" name="TextBox 11"/>
          <p:cNvSpPr txBox="1"/>
          <p:nvPr/>
        </p:nvSpPr>
        <p:spPr>
          <a:xfrm>
            <a:off x="786384" y="3182112"/>
            <a:ext cx="1828800" cy="274320"/>
          </a:xfrm>
          <a:prstGeom prst="rect">
            <a:avLst/>
          </a:prstGeom>
          <a:noFill/>
        </p:spPr>
        <p:txBody>
          <a:bodyPr wrap="square" lIns="0" tIns="0" rIns="0" bIns="0" anchor="ctr">
            <a:spAutoFit/>
          </a:bodyPr>
          <a:lstStyle/>
          <a:p>
            <a:pPr algn="l">
              <a:spcAft>
                <a:spcPts val="0"/>
              </a:spcAft>
            </a:pPr>
            <a:r>
              <a:rPr sz="1600" b="1">
                <a:solidFill>
                  <a:srgbClr val="274B6C"/>
                </a:solidFill>
                <a:latin typeface="Microsoft YaHei"/>
              </a:rPr>
              <a:t>数据大小</a:t>
            </a:r>
          </a:p>
        </p:txBody>
      </p:sp>
      <p:sp>
        <p:nvSpPr>
          <p:cNvPr id="13" name="TextBox 12"/>
          <p:cNvSpPr txBox="1"/>
          <p:nvPr/>
        </p:nvSpPr>
        <p:spPr>
          <a:xfrm>
            <a:off x="2798064" y="3127248"/>
            <a:ext cx="8458200" cy="457200"/>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输入的水果最多 100 种，选取规则最多 100 条。</a:t>
            </a:r>
          </a:p>
        </p:txBody>
      </p:sp>
      <p:sp>
        <p:nvSpPr>
          <p:cNvPr id="14" name="TextBox 13"/>
          <p:cNvSpPr txBox="1"/>
          <p:nvPr/>
        </p:nvSpPr>
        <p:spPr>
          <a:xfrm>
            <a:off x="786384" y="3767328"/>
            <a:ext cx="1828800" cy="274320"/>
          </a:xfrm>
          <a:prstGeom prst="rect">
            <a:avLst/>
          </a:prstGeom>
          <a:noFill/>
        </p:spPr>
        <p:txBody>
          <a:bodyPr wrap="square" lIns="0" tIns="0" rIns="0" bIns="0" anchor="ctr">
            <a:spAutoFit/>
          </a:bodyPr>
          <a:lstStyle/>
          <a:p>
            <a:pPr algn="l">
              <a:spcAft>
                <a:spcPts val="0"/>
              </a:spcAft>
            </a:pPr>
            <a:r>
              <a:rPr sz="1600" b="1">
                <a:solidFill>
                  <a:srgbClr val="274B6C"/>
                </a:solidFill>
                <a:latin typeface="Microsoft YaHei"/>
              </a:rPr>
              <a:t>输入数据</a:t>
            </a:r>
          </a:p>
        </p:txBody>
      </p:sp>
      <p:sp>
        <p:nvSpPr>
          <p:cNvPr id="15" name="TextBox 14"/>
          <p:cNvSpPr txBox="1"/>
          <p:nvPr/>
        </p:nvSpPr>
        <p:spPr>
          <a:xfrm>
            <a:off x="2798064" y="3712463"/>
            <a:ext cx="8458200" cy="457200"/>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一是选取规则，一条规则里的两种水果不能同时选取。</a:t>
            </a:r>
          </a:p>
        </p:txBody>
      </p:sp>
      <p:sp>
        <p:nvSpPr>
          <p:cNvPr id="16" name="TextBox 15"/>
          <p:cNvSpPr txBox="1"/>
          <p:nvPr/>
        </p:nvSpPr>
        <p:spPr>
          <a:xfrm>
            <a:off x="2798064" y="4270248"/>
            <a:ext cx="8458200" cy="457200"/>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二是每种水果的价格，价格是不超过 1000 的正整数。</a:t>
            </a:r>
          </a:p>
        </p:txBody>
      </p:sp>
      <p:sp>
        <p:nvSpPr>
          <p:cNvPr id="17" name="Rectangle 16"/>
          <p:cNvSpPr/>
          <p:nvPr/>
        </p:nvSpPr>
        <p:spPr>
          <a:xfrm>
            <a:off x="777240" y="5138928"/>
            <a:ext cx="10607040" cy="868680"/>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9264" y="5285232"/>
            <a:ext cx="10222992" cy="530352"/>
          </a:xfrm>
          <a:prstGeom prst="rect">
            <a:avLst/>
          </a:prstGeom>
          <a:noFill/>
        </p:spPr>
        <p:txBody>
          <a:bodyPr wrap="square" lIns="0" tIns="0" rIns="0" bIns="0" anchor="ctr">
            <a:spAutoFit/>
          </a:bodyPr>
          <a:lstStyle/>
          <a:p>
            <a:pPr algn="l">
              <a:spcAft>
                <a:spcPts val="0"/>
              </a:spcAft>
            </a:pPr>
            <a:r>
              <a:rPr sz="1700" b="1">
                <a:solidFill>
                  <a:srgbClr val="1F252A"/>
                </a:solidFill>
                <a:latin typeface="Microsoft YaHei"/>
              </a:rPr>
              <a:t>选取的最终目标是选取尽可能多的水果；在数量相同时，选取总价格尽量小的方案。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问题分析</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数据存储与回溯思路</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03</a:t>
            </a:r>
          </a:p>
        </p:txBody>
      </p:sp>
      <p:sp>
        <p:nvSpPr>
          <p:cNvPr id="8" name="TextBox 7"/>
          <p:cNvSpPr txBox="1"/>
          <p:nvPr/>
        </p:nvSpPr>
        <p:spPr>
          <a:xfrm>
            <a:off x="786384" y="1691640"/>
            <a:ext cx="1828800" cy="274320"/>
          </a:xfrm>
          <a:prstGeom prst="rect">
            <a:avLst/>
          </a:prstGeom>
          <a:noFill/>
        </p:spPr>
        <p:txBody>
          <a:bodyPr wrap="square" lIns="0" tIns="0" rIns="0" bIns="0" anchor="ctr">
            <a:spAutoFit/>
          </a:bodyPr>
          <a:lstStyle/>
          <a:p>
            <a:pPr algn="l">
              <a:spcAft>
                <a:spcPts val="0"/>
              </a:spcAft>
            </a:pPr>
            <a:r>
              <a:rPr sz="1600" b="1">
                <a:solidFill>
                  <a:srgbClr val="274B6C"/>
                </a:solidFill>
                <a:latin typeface="Microsoft YaHei"/>
              </a:rPr>
              <a:t>数据存储</a:t>
            </a:r>
          </a:p>
        </p:txBody>
      </p:sp>
      <p:sp>
        <p:nvSpPr>
          <p:cNvPr id="9" name="TextBox 8"/>
          <p:cNvSpPr txBox="1"/>
          <p:nvPr/>
        </p:nvSpPr>
        <p:spPr>
          <a:xfrm>
            <a:off x="786384" y="2075688"/>
            <a:ext cx="10424160" cy="438912"/>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水果看作节点，不能同时选取的规则看作边。</a:t>
            </a:r>
          </a:p>
        </p:txBody>
      </p:sp>
      <p:sp>
        <p:nvSpPr>
          <p:cNvPr id="10" name="TextBox 9"/>
          <p:cNvSpPr txBox="1"/>
          <p:nvPr/>
        </p:nvSpPr>
        <p:spPr>
          <a:xfrm>
            <a:off x="786384" y="2551176"/>
            <a:ext cx="10424160" cy="438912"/>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用二维数组记录每种水果的冲突邻居，用一维数组记录价格。</a:t>
            </a:r>
          </a:p>
        </p:txBody>
      </p:sp>
      <p:cxnSp>
        <p:nvCxnSpPr>
          <p:cNvPr id="11" name="Connector 10"/>
          <p:cNvCxnSpPr/>
          <p:nvPr/>
        </p:nvCxnSpPr>
        <p:spPr>
          <a:xfrm>
            <a:off x="786384" y="3154680"/>
            <a:ext cx="10607040"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3429000"/>
            <a:ext cx="1828800" cy="274320"/>
          </a:xfrm>
          <a:prstGeom prst="rect">
            <a:avLst/>
          </a:prstGeom>
          <a:noFill/>
        </p:spPr>
        <p:txBody>
          <a:bodyPr wrap="square" lIns="0" tIns="0" rIns="0" bIns="0" anchor="ctr">
            <a:spAutoFit/>
          </a:bodyPr>
          <a:lstStyle/>
          <a:p>
            <a:pPr algn="l">
              <a:spcAft>
                <a:spcPts val="0"/>
              </a:spcAft>
            </a:pPr>
            <a:r>
              <a:rPr sz="1600" b="1">
                <a:solidFill>
                  <a:srgbClr val="274B6C"/>
                </a:solidFill>
                <a:latin typeface="Microsoft YaHei"/>
              </a:rPr>
              <a:t>选取思路</a:t>
            </a:r>
          </a:p>
        </p:txBody>
      </p:sp>
      <p:sp>
        <p:nvSpPr>
          <p:cNvPr id="13" name="TextBox 12"/>
          <p:cNvSpPr txBox="1"/>
          <p:nvPr/>
        </p:nvSpPr>
        <p:spPr>
          <a:xfrm>
            <a:off x="786384" y="3822191"/>
            <a:ext cx="10424160" cy="448056"/>
          </a:xfrm>
          <a:prstGeom prst="rect">
            <a:avLst/>
          </a:prstGeom>
          <a:noFill/>
        </p:spPr>
        <p:txBody>
          <a:bodyPr wrap="square" lIns="0" tIns="0" rIns="0" bIns="0" anchor="ctr">
            <a:spAutoFit/>
          </a:bodyPr>
          <a:lstStyle/>
          <a:p>
            <a:pPr algn="l">
              <a:spcAft>
                <a:spcPts val="0"/>
              </a:spcAft>
            </a:pPr>
            <a:r>
              <a:rPr sz="1900" b="0">
                <a:solidFill>
                  <a:srgbClr val="1F252A"/>
                </a:solidFill>
                <a:latin typeface="Microsoft YaHei"/>
              </a:rPr>
              <a:t>采取回溯法：每种水果都有“选”和“不选”两种情况。</a:t>
            </a:r>
          </a:p>
        </p:txBody>
      </p:sp>
      <p:sp>
        <p:nvSpPr>
          <p:cNvPr id="14" name="Rectangle 13"/>
          <p:cNvSpPr/>
          <p:nvPr/>
        </p:nvSpPr>
        <p:spPr>
          <a:xfrm>
            <a:off x="786384" y="4443984"/>
            <a:ext cx="5074920" cy="62179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14984" y="4562856"/>
            <a:ext cx="4626864" cy="3474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选：记录水果，并排除冲突水果</a:t>
            </a:r>
          </a:p>
        </p:txBody>
      </p:sp>
      <p:sp>
        <p:nvSpPr>
          <p:cNvPr id="16" name="Rectangle 15"/>
          <p:cNvSpPr/>
          <p:nvPr/>
        </p:nvSpPr>
        <p:spPr>
          <a:xfrm>
            <a:off x="6163056" y="4443984"/>
            <a:ext cx="5074920" cy="62179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91656" y="4562856"/>
            <a:ext cx="4617720" cy="3474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不选：继续讨论剩余水果</a:t>
            </a:r>
          </a:p>
        </p:txBody>
      </p:sp>
      <p:sp>
        <p:nvSpPr>
          <p:cNvPr id="18" name="Rectangle 17"/>
          <p:cNvSpPr/>
          <p:nvPr/>
        </p:nvSpPr>
        <p:spPr>
          <a:xfrm>
            <a:off x="786384" y="5340096"/>
            <a:ext cx="10451592" cy="740664"/>
          </a:xfrm>
          <a:prstGeom prst="rect">
            <a:avLst/>
          </a:prstGeom>
          <a:solidFill>
            <a:srgbClr val="FFFFFF"/>
          </a:solidFill>
          <a:ln w="12700">
            <a:solidFill>
              <a:srgbClr val="D0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9264" y="5477256"/>
            <a:ext cx="10104120" cy="448056"/>
          </a:xfrm>
          <a:prstGeom prst="rect">
            <a:avLst/>
          </a:prstGeom>
          <a:noFill/>
        </p:spPr>
        <p:txBody>
          <a:bodyPr wrap="square" lIns="0" tIns="0" rIns="0" bIns="0" anchor="ctr">
            <a:spAutoFit/>
          </a:bodyPr>
          <a:lstStyle/>
          <a:p>
            <a:pPr algn="l">
              <a:spcAft>
                <a:spcPts val="0"/>
              </a:spcAft>
            </a:pPr>
            <a:r>
              <a:rPr sz="1700" b="1">
                <a:solidFill>
                  <a:srgbClr val="274B6C"/>
                </a:solidFill>
                <a:latin typeface="Microsoft YaHei"/>
              </a:rPr>
              <a:t>不进行任何优化，100 种水果需要讨论 2^100 种情况；主要工作放在剪枝上。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共同优化 1 / 目标编码</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把“数量优先、价格次之”合成一个分数</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04</a:t>
            </a:r>
          </a:p>
        </p:txBody>
      </p:sp>
      <p:sp>
        <p:nvSpPr>
          <p:cNvPr id="8" name="TextBox 7"/>
          <p:cNvSpPr txBox="1"/>
          <p:nvPr/>
        </p:nvSpPr>
        <p:spPr>
          <a:xfrm>
            <a:off x="777240" y="1691640"/>
            <a:ext cx="10652760" cy="420624"/>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每种水果先给一个足够大的基础分，再根据价格扣掉一小部分。</a:t>
            </a:r>
          </a:p>
        </p:txBody>
      </p:sp>
      <p:sp>
        <p:nvSpPr>
          <p:cNvPr id="9" name="Rectangle 8"/>
          <p:cNvSpPr/>
          <p:nvPr/>
        </p:nvSpPr>
        <p:spPr>
          <a:xfrm>
            <a:off x="777240" y="2432304"/>
            <a:ext cx="10625328" cy="1069848"/>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9848" y="2651760"/>
            <a:ext cx="10012680" cy="493776"/>
          </a:xfrm>
          <a:prstGeom prst="rect">
            <a:avLst/>
          </a:prstGeom>
          <a:noFill/>
        </p:spPr>
        <p:txBody>
          <a:bodyPr wrap="square" lIns="0" tIns="0" rIns="0" bIns="0" anchor="ctr">
            <a:spAutoFit/>
          </a:bodyPr>
          <a:lstStyle/>
          <a:p>
            <a:pPr algn="l">
              <a:spcAft>
                <a:spcPts val="0"/>
              </a:spcAft>
            </a:pPr>
            <a:r>
              <a:rPr sz="2500" b="1">
                <a:solidFill>
                  <a:srgbClr val="274B6C"/>
                </a:solidFill>
                <a:latin typeface="Microsoft YaHei"/>
              </a:rPr>
              <a:t>每种水果的分数：w(i) = 100001 − p(i)</a:t>
            </a:r>
          </a:p>
        </p:txBody>
      </p:sp>
      <p:sp>
        <p:nvSpPr>
          <p:cNvPr id="11" name="TextBox 10"/>
          <p:cNvSpPr txBox="1"/>
          <p:nvPr/>
        </p:nvSpPr>
        <p:spPr>
          <a:xfrm>
            <a:off x="786384" y="3831336"/>
            <a:ext cx="3291840" cy="274320"/>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为什么取 100001？</a:t>
            </a:r>
          </a:p>
        </p:txBody>
      </p:sp>
      <p:sp>
        <p:nvSpPr>
          <p:cNvPr id="12" name="TextBox 11"/>
          <p:cNvSpPr txBox="1"/>
          <p:nvPr/>
        </p:nvSpPr>
        <p:spPr>
          <a:xfrm>
            <a:off x="786384" y="4224528"/>
            <a:ext cx="10469880" cy="438912"/>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水果最多 100 种，每种价格最多 1000：全部价格之和最多 100000。</a:t>
            </a:r>
          </a:p>
        </p:txBody>
      </p:sp>
      <p:sp>
        <p:nvSpPr>
          <p:cNvPr id="13" name="TextBox 12"/>
          <p:cNvSpPr txBox="1"/>
          <p:nvPr/>
        </p:nvSpPr>
        <p:spPr>
          <a:xfrm>
            <a:off x="786384" y="4709160"/>
            <a:ext cx="10469880" cy="438912"/>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100001 比总价格可能产生的差额更大，多选一种的增益一定占优。</a:t>
            </a:r>
          </a:p>
        </p:txBody>
      </p:sp>
      <p:sp>
        <p:nvSpPr>
          <p:cNvPr id="14" name="Rectangle 13"/>
          <p:cNvSpPr/>
          <p:nvPr/>
        </p:nvSpPr>
        <p:spPr>
          <a:xfrm>
            <a:off x="786384" y="5376672"/>
            <a:ext cx="10607040" cy="612648"/>
          </a:xfrm>
          <a:prstGeom prst="rect">
            <a:avLst/>
          </a:prstGeom>
          <a:solidFill>
            <a:srgbClr val="FFFFFF"/>
          </a:solidFill>
          <a:ln w="12700">
            <a:solidFill>
              <a:srgbClr val="D0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96696" y="5504688"/>
            <a:ext cx="10131552" cy="356616"/>
          </a:xfrm>
          <a:prstGeom prst="rect">
            <a:avLst/>
          </a:prstGeom>
          <a:noFill/>
        </p:spPr>
        <p:txBody>
          <a:bodyPr wrap="square" lIns="0" tIns="0" rIns="0" bIns="0" anchor="ctr">
            <a:spAutoFit/>
          </a:bodyPr>
          <a:lstStyle/>
          <a:p>
            <a:pPr algn="l">
              <a:spcAft>
                <a:spcPts val="0"/>
              </a:spcAft>
            </a:pPr>
            <a:r>
              <a:rPr sz="1700" b="1">
                <a:solidFill>
                  <a:srgbClr val="274B6C"/>
                </a:solidFill>
                <a:latin typeface="Microsoft YaHei"/>
              </a:rPr>
              <a:t>同样数量下，价格越低，分数越高；后续只需比较一个总分。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共同优化 2 / 搜索提速</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共有的基础优化</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05</a:t>
            </a:r>
          </a:p>
        </p:txBody>
      </p:sp>
      <p:sp>
        <p:nvSpPr>
          <p:cNvPr id="8" name="TextBox 7"/>
          <p:cNvSpPr txBox="1"/>
          <p:nvPr/>
        </p:nvSpPr>
        <p:spPr>
          <a:xfrm>
            <a:off x="786384" y="1627632"/>
            <a:ext cx="10424160" cy="347472"/>
          </a:xfrm>
          <a:prstGeom prst="rect">
            <a:avLst/>
          </a:prstGeom>
          <a:noFill/>
        </p:spPr>
        <p:txBody>
          <a:bodyPr wrap="square" lIns="0" tIns="0" rIns="0" bIns="0" anchor="ctr">
            <a:spAutoFit/>
          </a:bodyPr>
          <a:lstStyle/>
          <a:p>
            <a:pPr algn="l">
              <a:spcAft>
                <a:spcPts val="0"/>
              </a:spcAft>
            </a:pPr>
            <a:r>
              <a:rPr sz="1600" b="0">
                <a:solidFill>
                  <a:srgbClr val="5B636A"/>
                </a:solidFill>
                <a:latin typeface="Microsoft YaHei"/>
              </a:rPr>
              <a:t>以下三项用于减少搜索工作，贯穿各版本。</a:t>
            </a:r>
          </a:p>
        </p:txBody>
      </p:sp>
      <p:sp>
        <p:nvSpPr>
          <p:cNvPr id="9" name="TextBox 8"/>
          <p:cNvSpPr txBox="1"/>
          <p:nvPr/>
        </p:nvSpPr>
        <p:spPr>
          <a:xfrm>
            <a:off x="822960" y="2084831"/>
            <a:ext cx="594360" cy="457200"/>
          </a:xfrm>
          <a:prstGeom prst="rect">
            <a:avLst/>
          </a:prstGeom>
          <a:noFill/>
        </p:spPr>
        <p:txBody>
          <a:bodyPr wrap="square" lIns="0" tIns="0" rIns="0" bIns="0" anchor="ctr">
            <a:spAutoFit/>
          </a:bodyPr>
          <a:lstStyle/>
          <a:p>
            <a:pPr algn="l">
              <a:spcAft>
                <a:spcPts val="0"/>
              </a:spcAft>
            </a:pPr>
            <a:r>
              <a:rPr sz="2000" b="1">
                <a:solidFill>
                  <a:srgbClr val="274B6C"/>
                </a:solidFill>
                <a:latin typeface="Microsoft YaHei"/>
              </a:rPr>
              <a:t>01</a:t>
            </a:r>
          </a:p>
        </p:txBody>
      </p:sp>
      <p:sp>
        <p:nvSpPr>
          <p:cNvPr id="10" name="TextBox 9"/>
          <p:cNvSpPr txBox="1"/>
          <p:nvPr/>
        </p:nvSpPr>
        <p:spPr>
          <a:xfrm>
            <a:off x="1572768" y="2084831"/>
            <a:ext cx="2926080" cy="393192"/>
          </a:xfrm>
          <a:prstGeom prst="rect">
            <a:avLst/>
          </a:prstGeom>
          <a:noFill/>
        </p:spPr>
        <p:txBody>
          <a:bodyPr wrap="square" lIns="0" tIns="0" rIns="0" bIns="0" anchor="ctr">
            <a:spAutoFit/>
          </a:bodyPr>
          <a:lstStyle/>
          <a:p>
            <a:pPr algn="l">
              <a:spcAft>
                <a:spcPts val="0"/>
              </a:spcAft>
            </a:pPr>
            <a:r>
              <a:rPr sz="1800" b="1">
                <a:solidFill>
                  <a:srgbClr val="1F252A"/>
                </a:solidFill>
                <a:latin typeface="Microsoft YaHei"/>
              </a:rPr>
              <a:t>分数上界剪枝</a:t>
            </a:r>
          </a:p>
        </p:txBody>
      </p:sp>
      <p:sp>
        <p:nvSpPr>
          <p:cNvPr id="11" name="TextBox 10"/>
          <p:cNvSpPr txBox="1"/>
          <p:nvPr/>
        </p:nvSpPr>
        <p:spPr>
          <a:xfrm>
            <a:off x="4160520" y="2084831"/>
            <a:ext cx="7132320" cy="39319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当前得分 + 剩余候选的最高可能得分 ≤ 已知最优分</a:t>
            </a:r>
          </a:p>
        </p:txBody>
      </p:sp>
      <p:sp>
        <p:nvSpPr>
          <p:cNvPr id="12" name="TextBox 11"/>
          <p:cNvSpPr txBox="1"/>
          <p:nvPr/>
        </p:nvSpPr>
        <p:spPr>
          <a:xfrm>
            <a:off x="4160520" y="2523744"/>
            <a:ext cx="7132320" cy="393192"/>
          </a:xfrm>
          <a:prstGeom prst="rect">
            <a:avLst/>
          </a:prstGeom>
          <a:noFill/>
        </p:spPr>
        <p:txBody>
          <a:bodyPr wrap="square" lIns="0" tIns="0" rIns="0" bIns="0" anchor="ctr">
            <a:spAutoFit/>
          </a:bodyPr>
          <a:lstStyle/>
          <a:p>
            <a:pPr algn="l">
              <a:spcAft>
                <a:spcPts val="0"/>
              </a:spcAft>
            </a:pPr>
            <a:r>
              <a:rPr sz="1500" b="0">
                <a:solidFill>
                  <a:srgbClr val="5B636A"/>
                </a:solidFill>
                <a:latin typeface="Microsoft YaHei"/>
              </a:rPr>
              <a:t>当前分支无法改进答案，提前终止。代码用冲突配对收紧这个上界。</a:t>
            </a:r>
          </a:p>
        </p:txBody>
      </p:sp>
      <p:cxnSp>
        <p:nvCxnSpPr>
          <p:cNvPr id="13" name="Connector 12"/>
          <p:cNvCxnSpPr/>
          <p:nvPr/>
        </p:nvCxnSpPr>
        <p:spPr>
          <a:xfrm>
            <a:off x="822960" y="3118103"/>
            <a:ext cx="10469880"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3364992"/>
            <a:ext cx="594360" cy="457200"/>
          </a:xfrm>
          <a:prstGeom prst="rect">
            <a:avLst/>
          </a:prstGeom>
          <a:noFill/>
        </p:spPr>
        <p:txBody>
          <a:bodyPr wrap="square" lIns="0" tIns="0" rIns="0" bIns="0" anchor="ctr">
            <a:spAutoFit/>
          </a:bodyPr>
          <a:lstStyle/>
          <a:p>
            <a:pPr algn="l">
              <a:spcAft>
                <a:spcPts val="0"/>
              </a:spcAft>
            </a:pPr>
            <a:r>
              <a:rPr sz="2000" b="1">
                <a:solidFill>
                  <a:srgbClr val="274B6C"/>
                </a:solidFill>
                <a:latin typeface="Microsoft YaHei"/>
              </a:rPr>
              <a:t>02</a:t>
            </a:r>
          </a:p>
        </p:txBody>
      </p:sp>
      <p:sp>
        <p:nvSpPr>
          <p:cNvPr id="15" name="TextBox 14"/>
          <p:cNvSpPr txBox="1"/>
          <p:nvPr/>
        </p:nvSpPr>
        <p:spPr>
          <a:xfrm>
            <a:off x="1572768" y="3364992"/>
            <a:ext cx="2926080" cy="393192"/>
          </a:xfrm>
          <a:prstGeom prst="rect">
            <a:avLst/>
          </a:prstGeom>
          <a:noFill/>
        </p:spPr>
        <p:txBody>
          <a:bodyPr wrap="square" lIns="0" tIns="0" rIns="0" bIns="0" anchor="ctr">
            <a:spAutoFit/>
          </a:bodyPr>
          <a:lstStyle/>
          <a:p>
            <a:pPr algn="l">
              <a:spcAft>
                <a:spcPts val="0"/>
              </a:spcAft>
            </a:pPr>
            <a:r>
              <a:rPr sz="1800" b="1">
                <a:solidFill>
                  <a:srgbClr val="1F252A"/>
                </a:solidFill>
                <a:latin typeface="Microsoft YaHei"/>
              </a:rPr>
              <a:t>掩码保存状态</a:t>
            </a:r>
          </a:p>
        </p:txBody>
      </p:sp>
      <p:sp>
        <p:nvSpPr>
          <p:cNvPr id="16" name="TextBox 15"/>
          <p:cNvSpPr txBox="1"/>
          <p:nvPr/>
        </p:nvSpPr>
        <p:spPr>
          <a:xfrm>
            <a:off x="4160520" y="3364992"/>
            <a:ext cx="7132320" cy="39319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一个候选集合用两个 64 位整数表示，覆盖最多 100 种水果。</a:t>
            </a:r>
          </a:p>
        </p:txBody>
      </p:sp>
      <p:sp>
        <p:nvSpPr>
          <p:cNvPr id="17" name="TextBox 16"/>
          <p:cNvSpPr txBox="1"/>
          <p:nvPr/>
        </p:nvSpPr>
        <p:spPr>
          <a:xfrm>
            <a:off x="4160520" y="3803904"/>
            <a:ext cx="7132320" cy="393192"/>
          </a:xfrm>
          <a:prstGeom prst="rect">
            <a:avLst/>
          </a:prstGeom>
          <a:noFill/>
        </p:spPr>
        <p:txBody>
          <a:bodyPr wrap="square" lIns="0" tIns="0" rIns="0" bIns="0" anchor="ctr">
            <a:spAutoFit/>
          </a:bodyPr>
          <a:lstStyle/>
          <a:p>
            <a:pPr algn="l">
              <a:spcAft>
                <a:spcPts val="0"/>
              </a:spcAft>
            </a:pPr>
            <a:r>
              <a:rPr sz="1500" b="0">
                <a:solidFill>
                  <a:srgbClr val="5B636A"/>
                </a:solidFill>
                <a:latin typeface="Microsoft YaHei"/>
              </a:rPr>
              <a:t>按位操作即可检查、加入或移除水果，快速更新搜索状态。</a:t>
            </a:r>
          </a:p>
        </p:txBody>
      </p:sp>
      <p:cxnSp>
        <p:nvCxnSpPr>
          <p:cNvPr id="18" name="Connector 17"/>
          <p:cNvCxnSpPr/>
          <p:nvPr/>
        </p:nvCxnSpPr>
        <p:spPr>
          <a:xfrm>
            <a:off x="822960" y="4398264"/>
            <a:ext cx="10469880"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4645152"/>
            <a:ext cx="594360" cy="457200"/>
          </a:xfrm>
          <a:prstGeom prst="rect">
            <a:avLst/>
          </a:prstGeom>
          <a:noFill/>
        </p:spPr>
        <p:txBody>
          <a:bodyPr wrap="square" lIns="0" tIns="0" rIns="0" bIns="0" anchor="ctr">
            <a:spAutoFit/>
          </a:bodyPr>
          <a:lstStyle/>
          <a:p>
            <a:pPr algn="l">
              <a:spcAft>
                <a:spcPts val="0"/>
              </a:spcAft>
            </a:pPr>
            <a:r>
              <a:rPr sz="2000" b="1">
                <a:solidFill>
                  <a:srgbClr val="274B6C"/>
                </a:solidFill>
                <a:latin typeface="Microsoft YaHei"/>
              </a:rPr>
              <a:t>03</a:t>
            </a:r>
          </a:p>
        </p:txBody>
      </p:sp>
      <p:sp>
        <p:nvSpPr>
          <p:cNvPr id="20" name="TextBox 19"/>
          <p:cNvSpPr txBox="1"/>
          <p:nvPr/>
        </p:nvSpPr>
        <p:spPr>
          <a:xfrm>
            <a:off x="1572768" y="4645152"/>
            <a:ext cx="2926080" cy="393192"/>
          </a:xfrm>
          <a:prstGeom prst="rect">
            <a:avLst/>
          </a:prstGeom>
          <a:noFill/>
        </p:spPr>
        <p:txBody>
          <a:bodyPr wrap="square" lIns="0" tIns="0" rIns="0" bIns="0" anchor="ctr">
            <a:spAutoFit/>
          </a:bodyPr>
          <a:lstStyle/>
          <a:p>
            <a:pPr algn="l">
              <a:spcAft>
                <a:spcPts val="0"/>
              </a:spcAft>
            </a:pPr>
            <a:r>
              <a:rPr sz="1800" b="1">
                <a:solidFill>
                  <a:srgbClr val="1F252A"/>
                </a:solidFill>
                <a:latin typeface="Microsoft YaHei"/>
              </a:rPr>
              <a:t>先选无冲突水果</a:t>
            </a:r>
          </a:p>
        </p:txBody>
      </p:sp>
      <p:sp>
        <p:nvSpPr>
          <p:cNvPr id="21" name="TextBox 20"/>
          <p:cNvSpPr txBox="1"/>
          <p:nvPr/>
        </p:nvSpPr>
        <p:spPr>
          <a:xfrm>
            <a:off x="4160520" y="4645152"/>
            <a:ext cx="7132320" cy="39319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没有任何冲突的水果一定可以选入答案，因为它能增加水果数量。</a:t>
            </a:r>
          </a:p>
        </p:txBody>
      </p:sp>
      <p:sp>
        <p:nvSpPr>
          <p:cNvPr id="22" name="TextBox 21"/>
          <p:cNvSpPr txBox="1"/>
          <p:nvPr/>
        </p:nvSpPr>
        <p:spPr>
          <a:xfrm>
            <a:off x="4160520" y="5084064"/>
            <a:ext cx="7132320" cy="393192"/>
          </a:xfrm>
          <a:prstGeom prst="rect">
            <a:avLst/>
          </a:prstGeom>
          <a:noFill/>
        </p:spPr>
        <p:txBody>
          <a:bodyPr wrap="square" lIns="0" tIns="0" rIns="0" bIns="0" anchor="ctr">
            <a:spAutoFit/>
          </a:bodyPr>
          <a:lstStyle/>
          <a:p>
            <a:pPr algn="l">
              <a:spcAft>
                <a:spcPts val="0"/>
              </a:spcAft>
            </a:pPr>
            <a:r>
              <a:rPr sz="1500" b="0">
                <a:solidFill>
                  <a:srgbClr val="5B636A"/>
                </a:solidFill>
                <a:latin typeface="Microsoft YaHei"/>
              </a:rPr>
              <a:t>程序先把它们选上，再从回溯搜索中移除。</a:t>
            </a:r>
          </a:p>
        </p:txBody>
      </p:sp>
      <p:sp>
        <p:nvSpPr>
          <p:cNvPr id="23" name="TextBox 22"/>
          <p:cNvSpPr txBox="1"/>
          <p:nvPr/>
        </p:nvSpPr>
        <p:spPr>
          <a:xfrm>
            <a:off x="685800" y="6144768"/>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这些优化由各版本共用，不作为版本差异单独比较。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05 / 实验设计</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版本设计：按优化目标组织对比</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06</a:t>
            </a:r>
          </a:p>
        </p:txBody>
      </p:sp>
      <p:sp>
        <p:nvSpPr>
          <p:cNvPr id="8" name="Rectangle 7"/>
          <p:cNvSpPr/>
          <p:nvPr/>
        </p:nvSpPr>
        <p:spPr>
          <a:xfrm>
            <a:off x="749808" y="1737360"/>
            <a:ext cx="10469880" cy="43891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755648"/>
            <a:ext cx="1207008" cy="402336"/>
          </a:xfrm>
          <a:prstGeom prst="rect">
            <a:avLst/>
          </a:prstGeom>
          <a:noFill/>
        </p:spPr>
        <p:txBody>
          <a:bodyPr wrap="square" lIns="0" tIns="0" rIns="0" bIns="0" anchor="ctr">
            <a:spAutoFit/>
          </a:bodyPr>
          <a:lstStyle/>
          <a:p>
            <a:pPr algn="l">
              <a:spcAft>
                <a:spcPts val="0"/>
              </a:spcAft>
            </a:pPr>
            <a:r>
              <a:rPr sz="1400" b="1">
                <a:solidFill>
                  <a:srgbClr val="1F252A"/>
                </a:solidFill>
                <a:latin typeface="Microsoft YaHei"/>
              </a:rPr>
              <a:t>版本</a:t>
            </a:r>
          </a:p>
        </p:txBody>
      </p:sp>
      <p:sp>
        <p:nvSpPr>
          <p:cNvPr id="10" name="TextBox 9"/>
          <p:cNvSpPr txBox="1"/>
          <p:nvPr/>
        </p:nvSpPr>
        <p:spPr>
          <a:xfrm>
            <a:off x="2231136" y="1755648"/>
            <a:ext cx="2834639" cy="402336"/>
          </a:xfrm>
          <a:prstGeom prst="rect">
            <a:avLst/>
          </a:prstGeom>
          <a:noFill/>
        </p:spPr>
        <p:txBody>
          <a:bodyPr wrap="square" lIns="0" tIns="0" rIns="0" bIns="0" anchor="ctr">
            <a:spAutoFit/>
          </a:bodyPr>
          <a:lstStyle/>
          <a:p>
            <a:pPr algn="l">
              <a:spcAft>
                <a:spcPts val="0"/>
              </a:spcAft>
            </a:pPr>
            <a:r>
              <a:rPr sz="1400" b="1">
                <a:solidFill>
                  <a:srgbClr val="1F252A"/>
                </a:solidFill>
                <a:latin typeface="Microsoft YaHei"/>
              </a:rPr>
              <a:t>分支选点</a:t>
            </a:r>
          </a:p>
        </p:txBody>
      </p:sp>
      <p:sp>
        <p:nvSpPr>
          <p:cNvPr id="11" name="TextBox 10"/>
          <p:cNvSpPr txBox="1"/>
          <p:nvPr/>
        </p:nvSpPr>
        <p:spPr>
          <a:xfrm>
            <a:off x="5248655" y="1755648"/>
            <a:ext cx="1828800" cy="402336"/>
          </a:xfrm>
          <a:prstGeom prst="rect">
            <a:avLst/>
          </a:prstGeom>
          <a:noFill/>
        </p:spPr>
        <p:txBody>
          <a:bodyPr wrap="square" lIns="0" tIns="0" rIns="0" bIns="0" anchor="ctr">
            <a:spAutoFit/>
          </a:bodyPr>
          <a:lstStyle/>
          <a:p>
            <a:pPr algn="l">
              <a:spcAft>
                <a:spcPts val="0"/>
              </a:spcAft>
            </a:pPr>
            <a:r>
              <a:rPr sz="1400" b="1">
                <a:solidFill>
                  <a:srgbClr val="1F252A"/>
                </a:solidFill>
                <a:latin typeface="Microsoft YaHei"/>
              </a:rPr>
              <a:t>分量分解</a:t>
            </a:r>
          </a:p>
        </p:txBody>
      </p:sp>
      <p:sp>
        <p:nvSpPr>
          <p:cNvPr id="12" name="TextBox 11"/>
          <p:cNvSpPr txBox="1"/>
          <p:nvPr/>
        </p:nvSpPr>
        <p:spPr>
          <a:xfrm>
            <a:off x="7260336" y="1755648"/>
            <a:ext cx="3867911" cy="402336"/>
          </a:xfrm>
          <a:prstGeom prst="rect">
            <a:avLst/>
          </a:prstGeom>
          <a:noFill/>
        </p:spPr>
        <p:txBody>
          <a:bodyPr wrap="square" lIns="0" tIns="0" rIns="0" bIns="0" anchor="ctr">
            <a:spAutoFit/>
          </a:bodyPr>
          <a:lstStyle/>
          <a:p>
            <a:pPr algn="l">
              <a:spcAft>
                <a:spcPts val="0"/>
              </a:spcAft>
            </a:pPr>
            <a:r>
              <a:rPr sz="1400" b="1">
                <a:solidFill>
                  <a:srgbClr val="1F252A"/>
                </a:solidFill>
                <a:latin typeface="Microsoft YaHei"/>
              </a:rPr>
              <a:t>新增结构处理</a:t>
            </a:r>
          </a:p>
        </p:txBody>
      </p:sp>
      <p:sp>
        <p:nvSpPr>
          <p:cNvPr id="13" name="TextBox 12"/>
          <p:cNvSpPr txBox="1"/>
          <p:nvPr/>
        </p:nvSpPr>
        <p:spPr>
          <a:xfrm>
            <a:off x="841247" y="2194560"/>
            <a:ext cx="1207008" cy="402336"/>
          </a:xfrm>
          <a:prstGeom prst="rect">
            <a:avLst/>
          </a:prstGeom>
          <a:noFill/>
        </p:spPr>
        <p:txBody>
          <a:bodyPr wrap="square" lIns="0" tIns="0" rIns="0" bIns="0" anchor="ctr">
            <a:spAutoFit/>
          </a:bodyPr>
          <a:lstStyle/>
          <a:p>
            <a:pPr algn="l">
              <a:spcAft>
                <a:spcPts val="0"/>
              </a:spcAft>
            </a:pPr>
            <a:r>
              <a:rPr sz="1400" b="0">
                <a:solidFill>
                  <a:srgbClr val="274B6C"/>
                </a:solidFill>
                <a:latin typeface="Microsoft YaHei"/>
              </a:rPr>
              <a:t>v1</a:t>
            </a:r>
          </a:p>
        </p:txBody>
      </p:sp>
      <p:sp>
        <p:nvSpPr>
          <p:cNvPr id="14" name="TextBox 13"/>
          <p:cNvSpPr txBox="1"/>
          <p:nvPr/>
        </p:nvSpPr>
        <p:spPr>
          <a:xfrm>
            <a:off x="2231136" y="2194560"/>
            <a:ext cx="2834639"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固定顺序</a:t>
            </a:r>
          </a:p>
        </p:txBody>
      </p:sp>
      <p:sp>
        <p:nvSpPr>
          <p:cNvPr id="15" name="TextBox 14"/>
          <p:cNvSpPr txBox="1"/>
          <p:nvPr/>
        </p:nvSpPr>
        <p:spPr>
          <a:xfrm>
            <a:off x="5248655" y="2194560"/>
            <a:ext cx="1828800"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否</a:t>
            </a:r>
          </a:p>
        </p:txBody>
      </p:sp>
      <p:sp>
        <p:nvSpPr>
          <p:cNvPr id="16" name="TextBox 15"/>
          <p:cNvSpPr txBox="1"/>
          <p:nvPr/>
        </p:nvSpPr>
        <p:spPr>
          <a:xfrm>
            <a:off x="7260336" y="2194560"/>
            <a:ext cx="3867911"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基础回溯</a:t>
            </a:r>
          </a:p>
        </p:txBody>
      </p:sp>
      <p:cxnSp>
        <p:nvCxnSpPr>
          <p:cNvPr id="17" name="Connector 16"/>
          <p:cNvCxnSpPr/>
          <p:nvPr/>
        </p:nvCxnSpPr>
        <p:spPr>
          <a:xfrm>
            <a:off x="749808" y="2615184"/>
            <a:ext cx="1046988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49808" y="2615184"/>
            <a:ext cx="10469880" cy="438912"/>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7" y="2633472"/>
            <a:ext cx="1207008" cy="402336"/>
          </a:xfrm>
          <a:prstGeom prst="rect">
            <a:avLst/>
          </a:prstGeom>
          <a:noFill/>
        </p:spPr>
        <p:txBody>
          <a:bodyPr wrap="square" lIns="0" tIns="0" rIns="0" bIns="0" anchor="ctr">
            <a:spAutoFit/>
          </a:bodyPr>
          <a:lstStyle/>
          <a:p>
            <a:pPr algn="l">
              <a:spcAft>
                <a:spcPts val="0"/>
              </a:spcAft>
            </a:pPr>
            <a:r>
              <a:rPr sz="1400" b="0">
                <a:solidFill>
                  <a:srgbClr val="274B6C"/>
                </a:solidFill>
                <a:latin typeface="Microsoft YaHei"/>
              </a:rPr>
              <a:t>v2</a:t>
            </a:r>
          </a:p>
        </p:txBody>
      </p:sp>
      <p:sp>
        <p:nvSpPr>
          <p:cNvPr id="20" name="TextBox 19"/>
          <p:cNvSpPr txBox="1"/>
          <p:nvPr/>
        </p:nvSpPr>
        <p:spPr>
          <a:xfrm>
            <a:off x="2231136" y="2633472"/>
            <a:ext cx="2834639"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动态最大候选度</a:t>
            </a:r>
          </a:p>
        </p:txBody>
      </p:sp>
      <p:sp>
        <p:nvSpPr>
          <p:cNvPr id="21" name="TextBox 20"/>
          <p:cNvSpPr txBox="1"/>
          <p:nvPr/>
        </p:nvSpPr>
        <p:spPr>
          <a:xfrm>
            <a:off x="5248655" y="2633472"/>
            <a:ext cx="1828800"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是</a:t>
            </a:r>
          </a:p>
        </p:txBody>
      </p:sp>
      <p:sp>
        <p:nvSpPr>
          <p:cNvPr id="22" name="TextBox 21"/>
          <p:cNvSpPr txBox="1"/>
          <p:nvPr/>
        </p:nvSpPr>
        <p:spPr>
          <a:xfrm>
            <a:off x="7260336" y="2633472"/>
            <a:ext cx="3867911"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作为后续基线</a:t>
            </a:r>
          </a:p>
        </p:txBody>
      </p:sp>
      <p:cxnSp>
        <p:nvCxnSpPr>
          <p:cNvPr id="23" name="Connector 22"/>
          <p:cNvCxnSpPr/>
          <p:nvPr/>
        </p:nvCxnSpPr>
        <p:spPr>
          <a:xfrm>
            <a:off x="749808" y="3054096"/>
            <a:ext cx="1046988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7" y="3072384"/>
            <a:ext cx="1207008" cy="402336"/>
          </a:xfrm>
          <a:prstGeom prst="rect">
            <a:avLst/>
          </a:prstGeom>
          <a:noFill/>
        </p:spPr>
        <p:txBody>
          <a:bodyPr wrap="square" lIns="0" tIns="0" rIns="0" bIns="0" anchor="ctr">
            <a:spAutoFit/>
          </a:bodyPr>
          <a:lstStyle/>
          <a:p>
            <a:pPr algn="l">
              <a:spcAft>
                <a:spcPts val="0"/>
              </a:spcAft>
            </a:pPr>
            <a:r>
              <a:rPr sz="1400" b="0">
                <a:solidFill>
                  <a:srgbClr val="274B6C"/>
                </a:solidFill>
                <a:latin typeface="Microsoft YaHei"/>
              </a:rPr>
              <a:t>v3</a:t>
            </a:r>
          </a:p>
        </p:txBody>
      </p:sp>
      <p:sp>
        <p:nvSpPr>
          <p:cNvPr id="25" name="TextBox 24"/>
          <p:cNvSpPr txBox="1"/>
          <p:nvPr/>
        </p:nvSpPr>
        <p:spPr>
          <a:xfrm>
            <a:off x="2231136" y="3072384"/>
            <a:ext cx="2834639"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固定顺序</a:t>
            </a:r>
          </a:p>
        </p:txBody>
      </p:sp>
      <p:sp>
        <p:nvSpPr>
          <p:cNvPr id="26" name="TextBox 25"/>
          <p:cNvSpPr txBox="1"/>
          <p:nvPr/>
        </p:nvSpPr>
        <p:spPr>
          <a:xfrm>
            <a:off x="5248655" y="3072384"/>
            <a:ext cx="1828800"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是</a:t>
            </a:r>
          </a:p>
        </p:txBody>
      </p:sp>
      <p:sp>
        <p:nvSpPr>
          <p:cNvPr id="27" name="TextBox 26"/>
          <p:cNvSpPr txBox="1"/>
          <p:nvPr/>
        </p:nvSpPr>
        <p:spPr>
          <a:xfrm>
            <a:off x="7260336" y="3072384"/>
            <a:ext cx="3867911"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与 v2 对比选点</a:t>
            </a:r>
          </a:p>
        </p:txBody>
      </p:sp>
      <p:cxnSp>
        <p:nvCxnSpPr>
          <p:cNvPr id="28" name="Connector 27"/>
          <p:cNvCxnSpPr/>
          <p:nvPr/>
        </p:nvCxnSpPr>
        <p:spPr>
          <a:xfrm>
            <a:off x="749808" y="3493008"/>
            <a:ext cx="1046988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41247" y="3511296"/>
            <a:ext cx="1207008" cy="402336"/>
          </a:xfrm>
          <a:prstGeom prst="rect">
            <a:avLst/>
          </a:prstGeom>
          <a:noFill/>
        </p:spPr>
        <p:txBody>
          <a:bodyPr wrap="square" lIns="0" tIns="0" rIns="0" bIns="0" anchor="ctr">
            <a:spAutoFit/>
          </a:bodyPr>
          <a:lstStyle/>
          <a:p>
            <a:pPr algn="l">
              <a:spcAft>
                <a:spcPts val="0"/>
              </a:spcAft>
            </a:pPr>
            <a:r>
              <a:rPr sz="1400" b="0">
                <a:solidFill>
                  <a:srgbClr val="274B6C"/>
                </a:solidFill>
                <a:latin typeface="Microsoft YaHei"/>
              </a:rPr>
              <a:t>v4</a:t>
            </a:r>
          </a:p>
        </p:txBody>
      </p:sp>
      <p:sp>
        <p:nvSpPr>
          <p:cNvPr id="30" name="TextBox 29"/>
          <p:cNvSpPr txBox="1"/>
          <p:nvPr/>
        </p:nvSpPr>
        <p:spPr>
          <a:xfrm>
            <a:off x="2231136" y="3511296"/>
            <a:ext cx="2834639"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动态最大候选度</a:t>
            </a:r>
          </a:p>
        </p:txBody>
      </p:sp>
      <p:sp>
        <p:nvSpPr>
          <p:cNvPr id="31" name="TextBox 30"/>
          <p:cNvSpPr txBox="1"/>
          <p:nvPr/>
        </p:nvSpPr>
        <p:spPr>
          <a:xfrm>
            <a:off x="5248655" y="3511296"/>
            <a:ext cx="1828800"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否</a:t>
            </a:r>
          </a:p>
        </p:txBody>
      </p:sp>
      <p:sp>
        <p:nvSpPr>
          <p:cNvPr id="32" name="TextBox 31"/>
          <p:cNvSpPr txBox="1"/>
          <p:nvPr/>
        </p:nvSpPr>
        <p:spPr>
          <a:xfrm>
            <a:off x="7260336" y="3511296"/>
            <a:ext cx="3867911"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与 v2 对比分量</a:t>
            </a:r>
          </a:p>
        </p:txBody>
      </p:sp>
      <p:cxnSp>
        <p:nvCxnSpPr>
          <p:cNvPr id="33" name="Connector 32"/>
          <p:cNvCxnSpPr/>
          <p:nvPr/>
        </p:nvCxnSpPr>
        <p:spPr>
          <a:xfrm>
            <a:off x="749808" y="3931920"/>
            <a:ext cx="1046988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41247" y="3950207"/>
            <a:ext cx="1207008" cy="402336"/>
          </a:xfrm>
          <a:prstGeom prst="rect">
            <a:avLst/>
          </a:prstGeom>
          <a:noFill/>
        </p:spPr>
        <p:txBody>
          <a:bodyPr wrap="square" lIns="0" tIns="0" rIns="0" bIns="0" anchor="ctr">
            <a:spAutoFit/>
          </a:bodyPr>
          <a:lstStyle/>
          <a:p>
            <a:pPr algn="l">
              <a:spcAft>
                <a:spcPts val="0"/>
              </a:spcAft>
            </a:pPr>
            <a:r>
              <a:rPr sz="1400" b="0">
                <a:solidFill>
                  <a:srgbClr val="274B6C"/>
                </a:solidFill>
                <a:latin typeface="Microsoft YaHei"/>
              </a:rPr>
              <a:t>v5</a:t>
            </a:r>
          </a:p>
        </p:txBody>
      </p:sp>
      <p:sp>
        <p:nvSpPr>
          <p:cNvPr id="35" name="TextBox 34"/>
          <p:cNvSpPr txBox="1"/>
          <p:nvPr/>
        </p:nvSpPr>
        <p:spPr>
          <a:xfrm>
            <a:off x="2231136" y="3950207"/>
            <a:ext cx="2834639"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初始度数预排序</a:t>
            </a:r>
          </a:p>
        </p:txBody>
      </p:sp>
      <p:sp>
        <p:nvSpPr>
          <p:cNvPr id="36" name="TextBox 35"/>
          <p:cNvSpPr txBox="1"/>
          <p:nvPr/>
        </p:nvSpPr>
        <p:spPr>
          <a:xfrm>
            <a:off x="5248655" y="3950207"/>
            <a:ext cx="1828800"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否</a:t>
            </a:r>
          </a:p>
        </p:txBody>
      </p:sp>
      <p:sp>
        <p:nvSpPr>
          <p:cNvPr id="37" name="TextBox 36"/>
          <p:cNvSpPr txBox="1"/>
          <p:nvPr/>
        </p:nvSpPr>
        <p:spPr>
          <a:xfrm>
            <a:off x="7260336" y="3950207"/>
            <a:ext cx="3867911"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静态顺序</a:t>
            </a:r>
          </a:p>
        </p:txBody>
      </p:sp>
      <p:cxnSp>
        <p:nvCxnSpPr>
          <p:cNvPr id="38" name="Connector 37"/>
          <p:cNvCxnSpPr/>
          <p:nvPr/>
        </p:nvCxnSpPr>
        <p:spPr>
          <a:xfrm>
            <a:off x="749808" y="4370831"/>
            <a:ext cx="1046988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749808" y="4370831"/>
            <a:ext cx="10469880" cy="438912"/>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1247" y="4389119"/>
            <a:ext cx="1207008" cy="402336"/>
          </a:xfrm>
          <a:prstGeom prst="rect">
            <a:avLst/>
          </a:prstGeom>
          <a:noFill/>
        </p:spPr>
        <p:txBody>
          <a:bodyPr wrap="square" lIns="0" tIns="0" rIns="0" bIns="0" anchor="ctr">
            <a:spAutoFit/>
          </a:bodyPr>
          <a:lstStyle/>
          <a:p>
            <a:pPr algn="l">
              <a:spcAft>
                <a:spcPts val="0"/>
              </a:spcAft>
            </a:pPr>
            <a:r>
              <a:rPr sz="1400" b="0">
                <a:solidFill>
                  <a:srgbClr val="274B6C"/>
                </a:solidFill>
                <a:latin typeface="Microsoft YaHei"/>
              </a:rPr>
              <a:t>v6</a:t>
            </a:r>
          </a:p>
        </p:txBody>
      </p:sp>
      <p:sp>
        <p:nvSpPr>
          <p:cNvPr id="41" name="TextBox 40"/>
          <p:cNvSpPr txBox="1"/>
          <p:nvPr/>
        </p:nvSpPr>
        <p:spPr>
          <a:xfrm>
            <a:off x="2231136" y="4389119"/>
            <a:ext cx="2834639"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沿用 v2</a:t>
            </a:r>
          </a:p>
        </p:txBody>
      </p:sp>
      <p:sp>
        <p:nvSpPr>
          <p:cNvPr id="42" name="TextBox 41"/>
          <p:cNvSpPr txBox="1"/>
          <p:nvPr/>
        </p:nvSpPr>
        <p:spPr>
          <a:xfrm>
            <a:off x="5248655" y="4389119"/>
            <a:ext cx="1828800"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是</a:t>
            </a:r>
          </a:p>
        </p:txBody>
      </p:sp>
      <p:sp>
        <p:nvSpPr>
          <p:cNvPr id="43" name="TextBox 42"/>
          <p:cNvSpPr txBox="1"/>
          <p:nvPr/>
        </p:nvSpPr>
        <p:spPr>
          <a:xfrm>
            <a:off x="7260336" y="4389119"/>
            <a:ext cx="3867911"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原始树分量 DP</a:t>
            </a:r>
          </a:p>
        </p:txBody>
      </p:sp>
      <p:cxnSp>
        <p:nvCxnSpPr>
          <p:cNvPr id="44" name="Connector 43"/>
          <p:cNvCxnSpPr/>
          <p:nvPr/>
        </p:nvCxnSpPr>
        <p:spPr>
          <a:xfrm>
            <a:off x="749808" y="4809744"/>
            <a:ext cx="1046988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749808" y="4809744"/>
            <a:ext cx="10469880" cy="438912"/>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41247" y="4828031"/>
            <a:ext cx="1207008" cy="402336"/>
          </a:xfrm>
          <a:prstGeom prst="rect">
            <a:avLst/>
          </a:prstGeom>
          <a:noFill/>
        </p:spPr>
        <p:txBody>
          <a:bodyPr wrap="square" lIns="0" tIns="0" rIns="0" bIns="0" anchor="ctr">
            <a:spAutoFit/>
          </a:bodyPr>
          <a:lstStyle/>
          <a:p>
            <a:pPr algn="l">
              <a:spcAft>
                <a:spcPts val="0"/>
              </a:spcAft>
            </a:pPr>
            <a:r>
              <a:rPr sz="1400" b="0">
                <a:solidFill>
                  <a:srgbClr val="274B6C"/>
                </a:solidFill>
                <a:latin typeface="Microsoft YaHei"/>
              </a:rPr>
              <a:t>v7</a:t>
            </a:r>
          </a:p>
        </p:txBody>
      </p:sp>
      <p:sp>
        <p:nvSpPr>
          <p:cNvPr id="47" name="TextBox 46"/>
          <p:cNvSpPr txBox="1"/>
          <p:nvPr/>
        </p:nvSpPr>
        <p:spPr>
          <a:xfrm>
            <a:off x="2231136" y="4828031"/>
            <a:ext cx="2834639"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沿用 v2</a:t>
            </a:r>
          </a:p>
        </p:txBody>
      </p:sp>
      <p:sp>
        <p:nvSpPr>
          <p:cNvPr id="48" name="TextBox 47"/>
          <p:cNvSpPr txBox="1"/>
          <p:nvPr/>
        </p:nvSpPr>
        <p:spPr>
          <a:xfrm>
            <a:off x="5248655" y="4828031"/>
            <a:ext cx="1828800"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是</a:t>
            </a:r>
          </a:p>
        </p:txBody>
      </p:sp>
      <p:sp>
        <p:nvSpPr>
          <p:cNvPr id="49" name="TextBox 48"/>
          <p:cNvSpPr txBox="1"/>
          <p:nvPr/>
        </p:nvSpPr>
        <p:spPr>
          <a:xfrm>
            <a:off x="7260336" y="4828031"/>
            <a:ext cx="3867911"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回溯中检测森林</a:t>
            </a:r>
          </a:p>
        </p:txBody>
      </p:sp>
      <p:cxnSp>
        <p:nvCxnSpPr>
          <p:cNvPr id="50" name="Connector 49"/>
          <p:cNvCxnSpPr/>
          <p:nvPr/>
        </p:nvCxnSpPr>
        <p:spPr>
          <a:xfrm>
            <a:off x="749808" y="5248656"/>
            <a:ext cx="1046988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49808" y="5248656"/>
            <a:ext cx="10469880" cy="438912"/>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41247" y="5266944"/>
            <a:ext cx="1207008" cy="402336"/>
          </a:xfrm>
          <a:prstGeom prst="rect">
            <a:avLst/>
          </a:prstGeom>
          <a:noFill/>
        </p:spPr>
        <p:txBody>
          <a:bodyPr wrap="square" lIns="0" tIns="0" rIns="0" bIns="0" anchor="ctr">
            <a:spAutoFit/>
          </a:bodyPr>
          <a:lstStyle/>
          <a:p>
            <a:pPr algn="l">
              <a:spcAft>
                <a:spcPts val="0"/>
              </a:spcAft>
            </a:pPr>
            <a:r>
              <a:rPr sz="1400" b="0">
                <a:solidFill>
                  <a:srgbClr val="274B6C"/>
                </a:solidFill>
                <a:latin typeface="Microsoft YaHei"/>
              </a:rPr>
              <a:t>v8</a:t>
            </a:r>
          </a:p>
        </p:txBody>
      </p:sp>
      <p:sp>
        <p:nvSpPr>
          <p:cNvPr id="53" name="TextBox 52"/>
          <p:cNvSpPr txBox="1"/>
          <p:nvPr/>
        </p:nvSpPr>
        <p:spPr>
          <a:xfrm>
            <a:off x="2231136" y="5266944"/>
            <a:ext cx="2834639"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沿用 v2</a:t>
            </a:r>
          </a:p>
        </p:txBody>
      </p:sp>
      <p:sp>
        <p:nvSpPr>
          <p:cNvPr id="54" name="TextBox 53"/>
          <p:cNvSpPr txBox="1"/>
          <p:nvPr/>
        </p:nvSpPr>
        <p:spPr>
          <a:xfrm>
            <a:off x="5248655" y="5266944"/>
            <a:ext cx="1828800"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是</a:t>
            </a:r>
          </a:p>
        </p:txBody>
      </p:sp>
      <p:sp>
        <p:nvSpPr>
          <p:cNvPr id="55" name="TextBox 54"/>
          <p:cNvSpPr txBox="1"/>
          <p:nvPr/>
        </p:nvSpPr>
        <p:spPr>
          <a:xfrm>
            <a:off x="7260336" y="5266944"/>
            <a:ext cx="3867911" cy="402336"/>
          </a:xfrm>
          <a:prstGeom prst="rect">
            <a:avLst/>
          </a:prstGeom>
          <a:noFill/>
        </p:spPr>
        <p:txBody>
          <a:bodyPr wrap="square" lIns="0" tIns="0" rIns="0" bIns="0" anchor="ctr">
            <a:spAutoFit/>
          </a:bodyPr>
          <a:lstStyle/>
          <a:p>
            <a:pPr algn="l">
              <a:spcAft>
                <a:spcPts val="0"/>
              </a:spcAft>
            </a:pPr>
            <a:r>
              <a:rPr sz="1400" b="0">
                <a:solidFill>
                  <a:srgbClr val="1F252A"/>
                </a:solidFill>
                <a:latin typeface="Microsoft YaHei"/>
              </a:rPr>
              <a:t>调整森林检测时机</a:t>
            </a:r>
          </a:p>
        </p:txBody>
      </p:sp>
      <p:cxnSp>
        <p:nvCxnSpPr>
          <p:cNvPr id="56" name="Connector 55"/>
          <p:cNvCxnSpPr/>
          <p:nvPr/>
        </p:nvCxnSpPr>
        <p:spPr>
          <a:xfrm>
            <a:off x="749808" y="5687568"/>
            <a:ext cx="1046988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85800" y="6071616"/>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所有版本求的都是精确最优解；性能比较关注搜索工作量如何变化。</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06 / 分支策略 1</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回溯中的候选集与高冲突节点</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07</a:t>
            </a:r>
          </a:p>
        </p:txBody>
      </p:sp>
      <p:sp>
        <p:nvSpPr>
          <p:cNvPr id="8" name="TextBox 7"/>
          <p:cNvSpPr txBox="1"/>
          <p:nvPr/>
        </p:nvSpPr>
        <p:spPr>
          <a:xfrm>
            <a:off x="786384" y="1664208"/>
            <a:ext cx="10515600" cy="420624"/>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候选集 C：当前仍可讨论、且不与已选水果冲突的节点集合。</a:t>
            </a:r>
          </a:p>
        </p:txBody>
      </p:sp>
      <p:cxnSp>
        <p:nvCxnSpPr>
          <p:cNvPr id="9" name="Connector 8"/>
          <p:cNvCxnSpPr/>
          <p:nvPr/>
        </p:nvCxnSpPr>
        <p:spPr>
          <a:xfrm flipH="1" flipV="1">
            <a:off x="1545336" y="2642615"/>
            <a:ext cx="1216151" cy="713233"/>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761487" y="2276856"/>
            <a:ext cx="0" cy="1078992"/>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761487" y="2642615"/>
            <a:ext cx="1225297" cy="713233"/>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761487" y="3355848"/>
            <a:ext cx="1225297" cy="68580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761487" y="3355848"/>
            <a:ext cx="0" cy="1088136"/>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545336" y="3355848"/>
            <a:ext cx="1216151" cy="68580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325880" y="2423160"/>
            <a:ext cx="438912" cy="438912"/>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25880" y="2427732"/>
            <a:ext cx="438912" cy="429768"/>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001</a:t>
            </a:r>
          </a:p>
        </p:txBody>
      </p:sp>
      <p:sp>
        <p:nvSpPr>
          <p:cNvPr id="17" name="Oval 16"/>
          <p:cNvSpPr/>
          <p:nvPr/>
        </p:nvSpPr>
        <p:spPr>
          <a:xfrm>
            <a:off x="2542032" y="2057400"/>
            <a:ext cx="438912" cy="438912"/>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42032" y="2061972"/>
            <a:ext cx="438912" cy="429768"/>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002</a:t>
            </a:r>
          </a:p>
        </p:txBody>
      </p:sp>
      <p:sp>
        <p:nvSpPr>
          <p:cNvPr id="19" name="Oval 18"/>
          <p:cNvSpPr/>
          <p:nvPr/>
        </p:nvSpPr>
        <p:spPr>
          <a:xfrm>
            <a:off x="3767328" y="2423160"/>
            <a:ext cx="438912" cy="438912"/>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67328" y="2427732"/>
            <a:ext cx="438912" cy="429768"/>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003</a:t>
            </a:r>
          </a:p>
        </p:txBody>
      </p:sp>
      <p:sp>
        <p:nvSpPr>
          <p:cNvPr id="21" name="Oval 20"/>
          <p:cNvSpPr/>
          <p:nvPr/>
        </p:nvSpPr>
        <p:spPr>
          <a:xfrm>
            <a:off x="3767328" y="3822191"/>
            <a:ext cx="438912" cy="438912"/>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67328" y="3826763"/>
            <a:ext cx="438912" cy="429768"/>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004</a:t>
            </a:r>
          </a:p>
        </p:txBody>
      </p:sp>
      <p:sp>
        <p:nvSpPr>
          <p:cNvPr id="23" name="Oval 22"/>
          <p:cNvSpPr/>
          <p:nvPr/>
        </p:nvSpPr>
        <p:spPr>
          <a:xfrm>
            <a:off x="2542032" y="4224528"/>
            <a:ext cx="438912" cy="438912"/>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42032" y="4229100"/>
            <a:ext cx="438912" cy="429768"/>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005</a:t>
            </a:r>
          </a:p>
        </p:txBody>
      </p:sp>
      <p:sp>
        <p:nvSpPr>
          <p:cNvPr id="25" name="Oval 24"/>
          <p:cNvSpPr/>
          <p:nvPr/>
        </p:nvSpPr>
        <p:spPr>
          <a:xfrm>
            <a:off x="1325880" y="3822191"/>
            <a:ext cx="438912" cy="438912"/>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25880" y="3826763"/>
            <a:ext cx="438912" cy="429768"/>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006</a:t>
            </a:r>
          </a:p>
        </p:txBody>
      </p:sp>
      <p:sp>
        <p:nvSpPr>
          <p:cNvPr id="27" name="Oval 26"/>
          <p:cNvSpPr/>
          <p:nvPr/>
        </p:nvSpPr>
        <p:spPr>
          <a:xfrm>
            <a:off x="2542032" y="3136392"/>
            <a:ext cx="438912" cy="438912"/>
          </a:xfrm>
          <a:prstGeom prst="ellipse">
            <a:avLst/>
          </a:prstGeom>
          <a:solidFill>
            <a:srgbClr val="274B6C"/>
          </a:solidFill>
          <a:ln w="17780">
            <a:solidFill>
              <a:srgbClr val="274B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42032" y="3140964"/>
            <a:ext cx="438912" cy="429768"/>
          </a:xfrm>
          <a:prstGeom prst="rect">
            <a:avLst/>
          </a:prstGeom>
          <a:noFill/>
        </p:spPr>
        <p:txBody>
          <a:bodyPr wrap="square" lIns="0" tIns="0" rIns="0" bIns="0" anchor="ctr">
            <a:spAutoFit/>
          </a:bodyPr>
          <a:lstStyle/>
          <a:p>
            <a:pPr algn="ctr">
              <a:spcAft>
                <a:spcPts val="0"/>
              </a:spcAft>
            </a:pPr>
            <a:r>
              <a:rPr sz="1100" b="1">
                <a:solidFill>
                  <a:srgbClr val="FFFFFF"/>
                </a:solidFill>
                <a:latin typeface="Microsoft YaHei"/>
              </a:rPr>
              <a:t>007</a:t>
            </a:r>
          </a:p>
        </p:txBody>
      </p:sp>
      <p:sp>
        <p:nvSpPr>
          <p:cNvPr id="29" name="TextBox 28"/>
          <p:cNvSpPr txBox="1"/>
          <p:nvPr/>
        </p:nvSpPr>
        <p:spPr>
          <a:xfrm>
            <a:off x="1188720" y="4846320"/>
            <a:ext cx="4114800" cy="329184"/>
          </a:xfrm>
          <a:prstGeom prst="rect">
            <a:avLst/>
          </a:prstGeom>
          <a:noFill/>
        </p:spPr>
        <p:txBody>
          <a:bodyPr wrap="square" lIns="0" tIns="0" rIns="0" bIns="0" anchor="ctr">
            <a:spAutoFit/>
          </a:bodyPr>
          <a:lstStyle/>
          <a:p>
            <a:pPr algn="ctr">
              <a:spcAft>
                <a:spcPts val="0"/>
              </a:spcAft>
            </a:pPr>
            <a:r>
              <a:rPr sz="1500" b="1">
                <a:solidFill>
                  <a:srgbClr val="5B636A"/>
                </a:solidFill>
                <a:latin typeface="Microsoft YaHei"/>
              </a:rPr>
              <a:t>中心点 007 的度数最高</a:t>
            </a:r>
          </a:p>
        </p:txBody>
      </p:sp>
      <p:cxnSp>
        <p:nvCxnSpPr>
          <p:cNvPr id="30" name="Connector 29"/>
          <p:cNvCxnSpPr/>
          <p:nvPr/>
        </p:nvCxnSpPr>
        <p:spPr>
          <a:xfrm>
            <a:off x="5577840" y="2029968"/>
            <a:ext cx="0" cy="3236976"/>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89320" y="2057400"/>
            <a:ext cx="4114800" cy="274320"/>
          </a:xfrm>
          <a:prstGeom prst="rect">
            <a:avLst/>
          </a:prstGeom>
          <a:noFill/>
        </p:spPr>
        <p:txBody>
          <a:bodyPr wrap="square" lIns="0" tIns="0" rIns="0" bIns="0" anchor="ctr">
            <a:spAutoFit/>
          </a:bodyPr>
          <a:lstStyle/>
          <a:p>
            <a:pPr algn="l">
              <a:spcAft>
                <a:spcPts val="0"/>
              </a:spcAft>
            </a:pPr>
            <a:r>
              <a:rPr sz="1600" b="1">
                <a:solidFill>
                  <a:srgbClr val="274B6C"/>
                </a:solidFill>
                <a:latin typeface="Microsoft YaHei"/>
              </a:rPr>
              <a:t>讨论 007 时</a:t>
            </a:r>
          </a:p>
        </p:txBody>
      </p:sp>
      <p:sp>
        <p:nvSpPr>
          <p:cNvPr id="32" name="Rectangle 31"/>
          <p:cNvSpPr/>
          <p:nvPr/>
        </p:nvSpPr>
        <p:spPr>
          <a:xfrm>
            <a:off x="5989320" y="2560320"/>
            <a:ext cx="5074920" cy="786384"/>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99632" y="2724912"/>
            <a:ext cx="4663440" cy="43891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选 007：它和 5 个邻居都移出候选集</a:t>
            </a:r>
          </a:p>
        </p:txBody>
      </p:sp>
      <p:sp>
        <p:nvSpPr>
          <p:cNvPr id="34" name="Rectangle 33"/>
          <p:cNvSpPr/>
          <p:nvPr/>
        </p:nvSpPr>
        <p:spPr>
          <a:xfrm>
            <a:off x="5989320" y="3602736"/>
            <a:ext cx="5074920" cy="786384"/>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99632" y="3767328"/>
            <a:ext cx="4663440" cy="43891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不选 007：只把 007 移出候选集</a:t>
            </a:r>
          </a:p>
        </p:txBody>
      </p:sp>
      <p:sp>
        <p:nvSpPr>
          <p:cNvPr id="36" name="TextBox 35"/>
          <p:cNvSpPr txBox="1"/>
          <p:nvPr/>
        </p:nvSpPr>
        <p:spPr>
          <a:xfrm>
            <a:off x="5989320" y="4681728"/>
            <a:ext cx="5074920" cy="566928"/>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优先讨论高冲突节点，选中它时往往能一次缩小很多候选。</a:t>
            </a:r>
          </a:p>
        </p:txBody>
      </p:sp>
      <p:sp>
        <p:nvSpPr>
          <p:cNvPr id="37" name="TextBox 36"/>
          <p:cNvSpPr txBox="1"/>
          <p:nvPr/>
        </p:nvSpPr>
        <p:spPr>
          <a:xfrm>
            <a:off x="685800" y="6099048"/>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图中蓝色中心节点与 5 个叶节点冲突；每条边表示一条不能同时选取的规则。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07 / 分支策略 2</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两种选点策略：固定顺序与动态调整</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08</a:t>
            </a:r>
          </a:p>
        </p:txBody>
      </p:sp>
      <p:sp>
        <p:nvSpPr>
          <p:cNvPr id="8" name="Rectangle 7"/>
          <p:cNvSpPr/>
          <p:nvPr/>
        </p:nvSpPr>
        <p:spPr>
          <a:xfrm>
            <a:off x="786384" y="1755648"/>
            <a:ext cx="5138928" cy="3429000"/>
          </a:xfrm>
          <a:prstGeom prst="rect">
            <a:avLst/>
          </a:prstGeom>
          <a:solidFill>
            <a:srgbClr val="FFFFFF"/>
          </a:solidFill>
          <a:ln w="12700">
            <a:solidFill>
              <a:srgbClr val="D0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45352" y="1755648"/>
            <a:ext cx="5138928" cy="3429000"/>
          </a:xfrm>
          <a:prstGeom prst="rect">
            <a:avLst/>
          </a:prstGeom>
          <a:solidFill>
            <a:srgbClr val="FFFFFF"/>
          </a:solidFill>
          <a:ln w="12700">
            <a:solidFill>
              <a:srgbClr val="D0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975104"/>
            <a:ext cx="4663440" cy="420624"/>
          </a:xfrm>
          <a:prstGeom prst="rect">
            <a:avLst/>
          </a:prstGeom>
          <a:noFill/>
        </p:spPr>
        <p:txBody>
          <a:bodyPr wrap="square" lIns="0" tIns="0" rIns="0" bIns="0" anchor="ctr">
            <a:spAutoFit/>
          </a:bodyPr>
          <a:lstStyle/>
          <a:p>
            <a:pPr algn="l">
              <a:spcAft>
                <a:spcPts val="0"/>
              </a:spcAft>
            </a:pPr>
            <a:r>
              <a:rPr sz="2000" b="1">
                <a:solidFill>
                  <a:srgbClr val="274B6C"/>
                </a:solidFill>
                <a:latin typeface="Microsoft YaHei"/>
              </a:rPr>
              <a:t>静态预排序（v5）</a:t>
            </a:r>
          </a:p>
        </p:txBody>
      </p:sp>
      <p:sp>
        <p:nvSpPr>
          <p:cNvPr id="11" name="TextBox 10"/>
          <p:cNvSpPr txBox="1"/>
          <p:nvPr/>
        </p:nvSpPr>
        <p:spPr>
          <a:xfrm>
            <a:off x="1024128" y="2587752"/>
            <a:ext cx="4663440" cy="914400"/>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回溯开始前，按每种水果的总冲突数从大到小排一次；拆分分量后，各分量沿固定顺序讨论。</a:t>
            </a:r>
          </a:p>
        </p:txBody>
      </p:sp>
      <p:sp>
        <p:nvSpPr>
          <p:cNvPr id="12" name="TextBox 11"/>
          <p:cNvSpPr txBox="1"/>
          <p:nvPr/>
        </p:nvSpPr>
        <p:spPr>
          <a:xfrm>
            <a:off x="1024128" y="3758184"/>
            <a:ext cx="4663440" cy="585216"/>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优点：预处理简单；M ≤ 100，排序开销很小。</a:t>
            </a:r>
          </a:p>
        </p:txBody>
      </p:sp>
      <p:sp>
        <p:nvSpPr>
          <p:cNvPr id="13" name="TextBox 12"/>
          <p:cNvSpPr txBox="1"/>
          <p:nvPr/>
        </p:nvSpPr>
        <p:spPr>
          <a:xfrm>
            <a:off x="1024128" y="4489704"/>
            <a:ext cx="4663440" cy="484632"/>
          </a:xfrm>
          <a:prstGeom prst="rect">
            <a:avLst/>
          </a:prstGeom>
          <a:noFill/>
        </p:spPr>
        <p:txBody>
          <a:bodyPr wrap="square" lIns="0" tIns="0" rIns="0" bIns="0" anchor="ctr">
            <a:spAutoFit/>
          </a:bodyPr>
          <a:lstStyle/>
          <a:p>
            <a:pPr algn="l">
              <a:spcAft>
                <a:spcPts val="0"/>
              </a:spcAft>
            </a:pPr>
            <a:r>
              <a:rPr sz="1500" b="0">
                <a:solidFill>
                  <a:srgbClr val="5B636A"/>
                </a:solidFill>
                <a:latin typeface="Microsoft YaHei"/>
              </a:rPr>
              <a:t>局限：顺序依据原始冲突数，不随候选集变化。</a:t>
            </a:r>
          </a:p>
        </p:txBody>
      </p:sp>
      <p:sp>
        <p:nvSpPr>
          <p:cNvPr id="14" name="TextBox 13"/>
          <p:cNvSpPr txBox="1"/>
          <p:nvPr/>
        </p:nvSpPr>
        <p:spPr>
          <a:xfrm>
            <a:off x="6492240" y="1975104"/>
            <a:ext cx="4663440" cy="420624"/>
          </a:xfrm>
          <a:prstGeom prst="rect">
            <a:avLst/>
          </a:prstGeom>
          <a:noFill/>
        </p:spPr>
        <p:txBody>
          <a:bodyPr wrap="square" lIns="0" tIns="0" rIns="0" bIns="0" anchor="ctr">
            <a:spAutoFit/>
          </a:bodyPr>
          <a:lstStyle/>
          <a:p>
            <a:pPr algn="l">
              <a:spcAft>
                <a:spcPts val="0"/>
              </a:spcAft>
            </a:pPr>
            <a:r>
              <a:rPr sz="2000" b="1">
                <a:solidFill>
                  <a:srgbClr val="274B6C"/>
                </a:solidFill>
                <a:latin typeface="Microsoft YaHei"/>
              </a:rPr>
              <a:t>动态选点（v2）</a:t>
            </a:r>
          </a:p>
        </p:txBody>
      </p:sp>
      <p:sp>
        <p:nvSpPr>
          <p:cNvPr id="15" name="TextBox 14"/>
          <p:cNvSpPr txBox="1"/>
          <p:nvPr/>
        </p:nvSpPr>
        <p:spPr>
          <a:xfrm>
            <a:off x="6492240" y="2587752"/>
            <a:ext cx="4663440" cy="914400"/>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每次回溯都在当前候选集中，选择与剩余候选冲突数最多的水果。</a:t>
            </a:r>
          </a:p>
        </p:txBody>
      </p:sp>
      <p:sp>
        <p:nvSpPr>
          <p:cNvPr id="16" name="TextBox 15"/>
          <p:cNvSpPr txBox="1"/>
          <p:nvPr/>
        </p:nvSpPr>
        <p:spPr>
          <a:xfrm>
            <a:off x="6492240" y="3758184"/>
            <a:ext cx="4663440" cy="585216"/>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优点：选点反映当前真正剩下的冲突关系。</a:t>
            </a:r>
          </a:p>
        </p:txBody>
      </p:sp>
      <p:sp>
        <p:nvSpPr>
          <p:cNvPr id="17" name="TextBox 16"/>
          <p:cNvSpPr txBox="1"/>
          <p:nvPr/>
        </p:nvSpPr>
        <p:spPr>
          <a:xfrm>
            <a:off x="6492240" y="4489704"/>
            <a:ext cx="4663440" cy="484632"/>
          </a:xfrm>
          <a:prstGeom prst="rect">
            <a:avLst/>
          </a:prstGeom>
          <a:noFill/>
        </p:spPr>
        <p:txBody>
          <a:bodyPr wrap="square" lIns="0" tIns="0" rIns="0" bIns="0" anchor="ctr">
            <a:spAutoFit/>
          </a:bodyPr>
          <a:lstStyle/>
          <a:p>
            <a:pPr algn="l">
              <a:spcAft>
                <a:spcPts val="0"/>
              </a:spcAft>
            </a:pPr>
            <a:r>
              <a:rPr sz="1500" b="0">
                <a:solidFill>
                  <a:srgbClr val="5B636A"/>
                </a:solidFill>
                <a:latin typeface="Microsoft YaHei"/>
              </a:rPr>
              <a:t>代价：每个搜索节点都要重新统计候选度数。</a:t>
            </a:r>
          </a:p>
        </p:txBody>
      </p:sp>
      <p:sp>
        <p:nvSpPr>
          <p:cNvPr id="18" name="Rectangle 17"/>
          <p:cNvSpPr/>
          <p:nvPr/>
        </p:nvSpPr>
        <p:spPr>
          <a:xfrm>
            <a:off x="786384" y="5449824"/>
            <a:ext cx="10607040" cy="557784"/>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9264" y="5559552"/>
            <a:ext cx="10195560" cy="347472"/>
          </a:xfrm>
          <a:prstGeom prst="rect">
            <a:avLst/>
          </a:prstGeom>
          <a:noFill/>
        </p:spPr>
        <p:txBody>
          <a:bodyPr wrap="square" lIns="0" tIns="0" rIns="0" bIns="0" anchor="ctr">
            <a:spAutoFit/>
          </a:bodyPr>
          <a:lstStyle/>
          <a:p>
            <a:pPr algn="l">
              <a:spcAft>
                <a:spcPts val="0"/>
              </a:spcAft>
            </a:pPr>
            <a:r>
              <a:rPr sz="1500" b="1">
                <a:solidFill>
                  <a:srgbClr val="1F252A"/>
                </a:solidFill>
                <a:latin typeface="Microsoft YaHei"/>
              </a:rPr>
              <a:t>预期：简单图上静态顺序成本低；候选关系变化明显的复杂图上，动态顺序更能适应。</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08 / v2、v3、v5</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测试总体支持动态选点的预期</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09</a:t>
            </a:r>
          </a:p>
        </p:txBody>
      </p:sp>
      <p:sp>
        <p:nvSpPr>
          <p:cNvPr id="8" name="TextBox 7"/>
          <p:cNvSpPr txBox="1"/>
          <p:nvPr/>
        </p:nvSpPr>
        <p:spPr>
          <a:xfrm>
            <a:off x="768096" y="1682496"/>
            <a:ext cx="6400800" cy="274320"/>
          </a:xfrm>
          <a:prstGeom prst="rect">
            <a:avLst/>
          </a:prstGeom>
          <a:noFill/>
        </p:spPr>
        <p:txBody>
          <a:bodyPr wrap="square" lIns="0" tIns="0" rIns="0" bIns="0" anchor="ctr">
            <a:spAutoFit/>
          </a:bodyPr>
          <a:lstStyle/>
          <a:p>
            <a:pPr algn="l">
              <a:spcAft>
                <a:spcPts val="0"/>
              </a:spcAft>
            </a:pPr>
            <a:r>
              <a:rPr sz="1500" b="1">
                <a:solidFill>
                  <a:srgbClr val="1F252A"/>
                </a:solidFill>
                <a:latin typeface="Microsoft YaHei"/>
              </a:rPr>
              <a:t>p95 求解时间（ms，越低越好）</a:t>
            </a:r>
          </a:p>
        </p:txBody>
      </p:sp>
      <p:sp>
        <p:nvSpPr>
          <p:cNvPr id="9" name="TextBox 8"/>
          <p:cNvSpPr txBox="1"/>
          <p:nvPr/>
        </p:nvSpPr>
        <p:spPr>
          <a:xfrm>
            <a:off x="777240" y="2304288"/>
            <a:ext cx="1874519" cy="384048"/>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v2 动态</a:t>
            </a:r>
          </a:p>
        </p:txBody>
      </p:sp>
      <p:sp>
        <p:nvSpPr>
          <p:cNvPr id="10" name="Rectangle 9"/>
          <p:cNvSpPr/>
          <p:nvPr/>
        </p:nvSpPr>
        <p:spPr>
          <a:xfrm>
            <a:off x="2743200" y="2368296"/>
            <a:ext cx="602946" cy="256032"/>
          </a:xfrm>
          <a:prstGeom prst="rect">
            <a:avLst/>
          </a:prstGeom>
          <a:solidFill>
            <a:srgbClr val="274B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79408" y="2304288"/>
            <a:ext cx="1234440" cy="384048"/>
          </a:xfrm>
          <a:prstGeom prst="rect">
            <a:avLst/>
          </a:prstGeom>
          <a:noFill/>
        </p:spPr>
        <p:txBody>
          <a:bodyPr wrap="square" lIns="0" tIns="0" rIns="0" bIns="0" anchor="ctr">
            <a:spAutoFit/>
          </a:bodyPr>
          <a:lstStyle/>
          <a:p>
            <a:pPr algn="l">
              <a:spcAft>
                <a:spcPts val="0"/>
              </a:spcAft>
            </a:pPr>
            <a:r>
              <a:rPr sz="1700" b="1">
                <a:solidFill>
                  <a:srgbClr val="1F252A"/>
                </a:solidFill>
                <a:latin typeface="Microsoft YaHei"/>
              </a:rPr>
              <a:t>26.0</a:t>
            </a:r>
          </a:p>
        </p:txBody>
      </p:sp>
      <p:sp>
        <p:nvSpPr>
          <p:cNvPr id="12" name="TextBox 11"/>
          <p:cNvSpPr txBox="1"/>
          <p:nvPr/>
        </p:nvSpPr>
        <p:spPr>
          <a:xfrm>
            <a:off x="777240" y="3026664"/>
            <a:ext cx="1874519" cy="384048"/>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v3 固定顺序</a:t>
            </a:r>
          </a:p>
        </p:txBody>
      </p:sp>
      <p:sp>
        <p:nvSpPr>
          <p:cNvPr id="13" name="Rectangle 12"/>
          <p:cNvSpPr/>
          <p:nvPr/>
        </p:nvSpPr>
        <p:spPr>
          <a:xfrm>
            <a:off x="2743200" y="3090672"/>
            <a:ext cx="5659567" cy="256032"/>
          </a:xfrm>
          <a:prstGeom prst="rect">
            <a:avLst/>
          </a:prstGeom>
          <a:solidFill>
            <a:srgbClr val="7E8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79408" y="3026664"/>
            <a:ext cx="1234440" cy="384048"/>
          </a:xfrm>
          <a:prstGeom prst="rect">
            <a:avLst/>
          </a:prstGeom>
          <a:noFill/>
        </p:spPr>
        <p:txBody>
          <a:bodyPr wrap="square" lIns="0" tIns="0" rIns="0" bIns="0" anchor="ctr">
            <a:spAutoFit/>
          </a:bodyPr>
          <a:lstStyle/>
          <a:p>
            <a:pPr algn="l">
              <a:spcAft>
                <a:spcPts val="0"/>
              </a:spcAft>
            </a:pPr>
            <a:r>
              <a:rPr sz="1700" b="1">
                <a:solidFill>
                  <a:srgbClr val="1F252A"/>
                </a:solidFill>
                <a:latin typeface="Microsoft YaHei"/>
              </a:rPr>
              <a:t>243.8</a:t>
            </a:r>
          </a:p>
        </p:txBody>
      </p:sp>
      <p:sp>
        <p:nvSpPr>
          <p:cNvPr id="15" name="TextBox 14"/>
          <p:cNvSpPr txBox="1"/>
          <p:nvPr/>
        </p:nvSpPr>
        <p:spPr>
          <a:xfrm>
            <a:off x="777240" y="3749039"/>
            <a:ext cx="1874519" cy="384048"/>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v5 预排序</a:t>
            </a:r>
          </a:p>
        </p:txBody>
      </p:sp>
      <p:sp>
        <p:nvSpPr>
          <p:cNvPr id="16" name="Rectangle 15"/>
          <p:cNvSpPr/>
          <p:nvPr/>
        </p:nvSpPr>
        <p:spPr>
          <a:xfrm>
            <a:off x="2743200" y="3813048"/>
            <a:ext cx="1952962" cy="256032"/>
          </a:xfrm>
          <a:prstGeom prst="rect">
            <a:avLst/>
          </a:prstGeom>
          <a:solidFill>
            <a:srgbClr val="7E8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79408" y="3749039"/>
            <a:ext cx="1234440" cy="384048"/>
          </a:xfrm>
          <a:prstGeom prst="rect">
            <a:avLst/>
          </a:prstGeom>
          <a:noFill/>
        </p:spPr>
        <p:txBody>
          <a:bodyPr wrap="square" lIns="0" tIns="0" rIns="0" bIns="0" anchor="ctr">
            <a:spAutoFit/>
          </a:bodyPr>
          <a:lstStyle/>
          <a:p>
            <a:pPr algn="l">
              <a:spcAft>
                <a:spcPts val="0"/>
              </a:spcAft>
            </a:pPr>
            <a:r>
              <a:rPr sz="1700" b="1">
                <a:solidFill>
                  <a:srgbClr val="1F252A"/>
                </a:solidFill>
                <a:latin typeface="Microsoft YaHei"/>
              </a:rPr>
              <a:t>84.1</a:t>
            </a:r>
          </a:p>
        </p:txBody>
      </p:sp>
      <p:sp>
        <p:nvSpPr>
          <p:cNvPr id="18" name="Rectangle 17"/>
          <p:cNvSpPr/>
          <p:nvPr/>
        </p:nvSpPr>
        <p:spPr>
          <a:xfrm>
            <a:off x="768096" y="4718304"/>
            <a:ext cx="10652760" cy="649224"/>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7552" y="4828032"/>
            <a:ext cx="10058400" cy="365760"/>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超时次数 / 2460：  v2 = 0     v3 = 9     v5 = 4</a:t>
            </a:r>
          </a:p>
        </p:txBody>
      </p:sp>
      <p:sp>
        <p:nvSpPr>
          <p:cNvPr id="20" name="TextBox 19"/>
          <p:cNvSpPr txBox="1"/>
          <p:nvPr/>
        </p:nvSpPr>
        <p:spPr>
          <a:xfrm>
            <a:off x="777240" y="5449824"/>
            <a:ext cx="10515600" cy="347472"/>
          </a:xfrm>
          <a:prstGeom prst="rect">
            <a:avLst/>
          </a:prstGeom>
          <a:noFill/>
        </p:spPr>
        <p:txBody>
          <a:bodyPr wrap="square" lIns="0" tIns="0" rIns="0" bIns="0" anchor="ctr">
            <a:spAutoFit/>
          </a:bodyPr>
          <a:lstStyle/>
          <a:p>
            <a:pPr algn="l">
              <a:spcAft>
                <a:spcPts val="0"/>
              </a:spcAft>
            </a:pPr>
            <a:r>
              <a:rPr sz="1400" b="1">
                <a:solidFill>
                  <a:srgbClr val="1F252A"/>
                </a:solidFill>
                <a:latin typeface="Microsoft YaHei"/>
              </a:rPr>
              <a:t>banded M=100 中位数：v2 87.4 ms   ·   v3 544.5 ms   ·   v5 373.3 ms</a:t>
            </a:r>
          </a:p>
        </p:txBody>
      </p:sp>
      <p:sp>
        <p:nvSpPr>
          <p:cNvPr id="21" name="TextBox 20"/>
          <p:cNvSpPr txBox="1"/>
          <p:nvPr/>
        </p:nvSpPr>
        <p:spPr>
          <a:xfrm>
            <a:off x="685800" y="6016752"/>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三版均做分量分解；v2/v5 对比动态与静态选点，v3 使用固定下标顺序。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09 / 结构优化 1</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分量分解：孤立节点思路的延伸</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10</a:t>
            </a:r>
          </a:p>
        </p:txBody>
      </p:sp>
      <p:sp>
        <p:nvSpPr>
          <p:cNvPr id="8" name="TextBox 7"/>
          <p:cNvSpPr txBox="1"/>
          <p:nvPr/>
        </p:nvSpPr>
        <p:spPr>
          <a:xfrm>
            <a:off x="786384" y="1664208"/>
            <a:ext cx="10561320" cy="438912"/>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孤立节点没有冲突边，可以直接选入；它其实是大小为 1 的连通分量。</a:t>
            </a:r>
          </a:p>
        </p:txBody>
      </p:sp>
      <p:cxnSp>
        <p:nvCxnSpPr>
          <p:cNvPr id="9" name="Connector 8"/>
          <p:cNvCxnSpPr/>
          <p:nvPr/>
        </p:nvCxnSpPr>
        <p:spPr>
          <a:xfrm flipV="1">
            <a:off x="1618488" y="2066544"/>
            <a:ext cx="594360" cy="530352"/>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212848" y="2066544"/>
            <a:ext cx="594360" cy="530352"/>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618488" y="2596896"/>
            <a:ext cx="1188720" cy="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417320" y="239572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17320" y="2400300"/>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A1</a:t>
            </a:r>
          </a:p>
        </p:txBody>
      </p:sp>
      <p:sp>
        <p:nvSpPr>
          <p:cNvPr id="14" name="Oval 13"/>
          <p:cNvSpPr/>
          <p:nvPr/>
        </p:nvSpPr>
        <p:spPr>
          <a:xfrm>
            <a:off x="2011680" y="1865376"/>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11680" y="1869948"/>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A2</a:t>
            </a:r>
          </a:p>
        </p:txBody>
      </p:sp>
      <p:sp>
        <p:nvSpPr>
          <p:cNvPr id="16" name="Oval 15"/>
          <p:cNvSpPr/>
          <p:nvPr/>
        </p:nvSpPr>
        <p:spPr>
          <a:xfrm>
            <a:off x="2606040" y="239572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6040" y="2400300"/>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A3</a:t>
            </a:r>
          </a:p>
        </p:txBody>
      </p:sp>
      <p:sp>
        <p:nvSpPr>
          <p:cNvPr id="18" name="TextBox 17"/>
          <p:cNvSpPr txBox="1"/>
          <p:nvPr/>
        </p:nvSpPr>
        <p:spPr>
          <a:xfrm>
            <a:off x="1417320" y="2889504"/>
            <a:ext cx="1600200" cy="292608"/>
          </a:xfrm>
          <a:prstGeom prst="rect">
            <a:avLst/>
          </a:prstGeom>
          <a:noFill/>
        </p:spPr>
        <p:txBody>
          <a:bodyPr wrap="square" lIns="0" tIns="0" rIns="0" bIns="0" anchor="ctr">
            <a:spAutoFit/>
          </a:bodyPr>
          <a:lstStyle/>
          <a:p>
            <a:pPr algn="ctr">
              <a:spcAft>
                <a:spcPts val="0"/>
              </a:spcAft>
            </a:pPr>
            <a:r>
              <a:rPr sz="1400" b="1">
                <a:solidFill>
                  <a:srgbClr val="5B636A"/>
                </a:solidFill>
                <a:latin typeface="Microsoft YaHei"/>
              </a:rPr>
              <a:t>分量 A</a:t>
            </a:r>
          </a:p>
        </p:txBody>
      </p:sp>
      <p:cxnSp>
        <p:nvCxnSpPr>
          <p:cNvPr id="19" name="Connector 18"/>
          <p:cNvCxnSpPr/>
          <p:nvPr/>
        </p:nvCxnSpPr>
        <p:spPr>
          <a:xfrm>
            <a:off x="4434840" y="2322576"/>
            <a:ext cx="777240" cy="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023360" y="212140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23360" y="2125979"/>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B1</a:t>
            </a:r>
          </a:p>
        </p:txBody>
      </p:sp>
      <p:sp>
        <p:nvSpPr>
          <p:cNvPr id="22" name="Oval 21"/>
          <p:cNvSpPr/>
          <p:nvPr/>
        </p:nvSpPr>
        <p:spPr>
          <a:xfrm>
            <a:off x="5212080" y="212140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12080" y="2125979"/>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B2</a:t>
            </a:r>
          </a:p>
        </p:txBody>
      </p:sp>
      <p:sp>
        <p:nvSpPr>
          <p:cNvPr id="24" name="TextBox 23"/>
          <p:cNvSpPr txBox="1"/>
          <p:nvPr/>
        </p:nvSpPr>
        <p:spPr>
          <a:xfrm>
            <a:off x="3977639" y="2889504"/>
            <a:ext cx="1645920" cy="292608"/>
          </a:xfrm>
          <a:prstGeom prst="rect">
            <a:avLst/>
          </a:prstGeom>
          <a:noFill/>
        </p:spPr>
        <p:txBody>
          <a:bodyPr wrap="square" lIns="0" tIns="0" rIns="0" bIns="0" anchor="ctr">
            <a:spAutoFit/>
          </a:bodyPr>
          <a:lstStyle/>
          <a:p>
            <a:pPr algn="ctr">
              <a:spcAft>
                <a:spcPts val="0"/>
              </a:spcAft>
            </a:pPr>
            <a:r>
              <a:rPr sz="1400" b="1">
                <a:solidFill>
                  <a:srgbClr val="5B636A"/>
                </a:solidFill>
                <a:latin typeface="Microsoft YaHei"/>
              </a:rPr>
              <a:t>分量 B</a:t>
            </a:r>
          </a:p>
        </p:txBody>
      </p:sp>
      <p:sp>
        <p:nvSpPr>
          <p:cNvPr id="25" name="Oval 24"/>
          <p:cNvSpPr/>
          <p:nvPr/>
        </p:nvSpPr>
        <p:spPr>
          <a:xfrm>
            <a:off x="6812280" y="212140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12280" y="2125979"/>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C</a:t>
            </a:r>
          </a:p>
        </p:txBody>
      </p:sp>
      <p:sp>
        <p:nvSpPr>
          <p:cNvPr id="27" name="TextBox 26"/>
          <p:cNvSpPr txBox="1"/>
          <p:nvPr/>
        </p:nvSpPr>
        <p:spPr>
          <a:xfrm>
            <a:off x="6419088" y="2889504"/>
            <a:ext cx="1463040" cy="292608"/>
          </a:xfrm>
          <a:prstGeom prst="rect">
            <a:avLst/>
          </a:prstGeom>
          <a:noFill/>
        </p:spPr>
        <p:txBody>
          <a:bodyPr wrap="square" lIns="0" tIns="0" rIns="0" bIns="0" anchor="ctr">
            <a:spAutoFit/>
          </a:bodyPr>
          <a:lstStyle/>
          <a:p>
            <a:pPr algn="ctr">
              <a:spcAft>
                <a:spcPts val="0"/>
              </a:spcAft>
            </a:pPr>
            <a:r>
              <a:rPr sz="1400" b="1">
                <a:solidFill>
                  <a:srgbClr val="5B636A"/>
                </a:solidFill>
                <a:latin typeface="Microsoft YaHei"/>
              </a:rPr>
              <a:t>孤立分量 C</a:t>
            </a:r>
          </a:p>
        </p:txBody>
      </p:sp>
      <p:sp>
        <p:nvSpPr>
          <p:cNvPr id="28" name="TextBox 27"/>
          <p:cNvSpPr txBox="1"/>
          <p:nvPr/>
        </p:nvSpPr>
        <p:spPr>
          <a:xfrm>
            <a:off x="786384" y="3456432"/>
            <a:ext cx="10561320" cy="438912"/>
          </a:xfrm>
          <a:prstGeom prst="rect">
            <a:avLst/>
          </a:prstGeom>
          <a:noFill/>
        </p:spPr>
        <p:txBody>
          <a:bodyPr wrap="square" lIns="0" tIns="0" rIns="0" bIns="0" anchor="ctr">
            <a:spAutoFit/>
          </a:bodyPr>
          <a:lstStyle/>
          <a:p>
            <a:pPr algn="l">
              <a:spcAft>
                <a:spcPts val="0"/>
              </a:spcAft>
            </a:pPr>
            <a:r>
              <a:rPr sz="1800" b="1">
                <a:solidFill>
                  <a:srgbClr val="1F252A"/>
                </a:solidFill>
                <a:latin typeface="Microsoft YaHei"/>
              </a:rPr>
              <a:t>不同连通分量之间没有边；一个分量的选取不会影响另一个分量。</a:t>
            </a:r>
          </a:p>
        </p:txBody>
      </p:sp>
      <p:sp>
        <p:nvSpPr>
          <p:cNvPr id="29" name="TextBox 28"/>
          <p:cNvSpPr txBox="1"/>
          <p:nvPr/>
        </p:nvSpPr>
        <p:spPr>
          <a:xfrm>
            <a:off x="786384" y="4087368"/>
            <a:ext cx="10561320" cy="393192"/>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分别求每个分量的局部最优解，再把这些解合起来：</a:t>
            </a:r>
          </a:p>
        </p:txBody>
      </p:sp>
      <p:sp>
        <p:nvSpPr>
          <p:cNvPr id="30" name="Rectangle 29"/>
          <p:cNvSpPr/>
          <p:nvPr/>
        </p:nvSpPr>
        <p:spPr>
          <a:xfrm>
            <a:off x="786384" y="4645152"/>
            <a:ext cx="10561320" cy="694944"/>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24128" y="4773168"/>
            <a:ext cx="4572000" cy="384048"/>
          </a:xfrm>
          <a:prstGeom prst="rect">
            <a:avLst/>
          </a:prstGeom>
          <a:noFill/>
        </p:spPr>
        <p:txBody>
          <a:bodyPr wrap="square" lIns="0" tIns="0" rIns="0" bIns="0" anchor="ctr">
            <a:spAutoFit/>
          </a:bodyPr>
          <a:lstStyle/>
          <a:p>
            <a:pPr algn="l">
              <a:spcAft>
                <a:spcPts val="0"/>
              </a:spcAft>
            </a:pPr>
            <a:r>
              <a:rPr sz="2100" b="1">
                <a:solidFill>
                  <a:srgbClr val="274B6C"/>
                </a:solidFill>
                <a:latin typeface="Microsoft YaHei"/>
              </a:rPr>
              <a:t>S* = S₁ ∪ S₂ ∪ ··· ∪ Sₖ</a:t>
            </a:r>
          </a:p>
        </p:txBody>
      </p:sp>
      <p:sp>
        <p:nvSpPr>
          <p:cNvPr id="32" name="TextBox 31"/>
          <p:cNvSpPr txBox="1"/>
          <p:nvPr/>
        </p:nvSpPr>
        <p:spPr>
          <a:xfrm>
            <a:off x="5623560" y="4773168"/>
            <a:ext cx="5440680" cy="384048"/>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各分量得分可相加，所以合并后就是全图的最优解。</a:t>
            </a:r>
          </a:p>
        </p:txBody>
      </p:sp>
      <p:sp>
        <p:nvSpPr>
          <p:cNvPr id="33" name="TextBox 32"/>
          <p:cNvSpPr txBox="1"/>
          <p:nvPr/>
        </p:nvSpPr>
        <p:spPr>
          <a:xfrm>
            <a:off x="685800" y="5989320"/>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把“单个孤立水果可以先选”推广为“多个互不相连的子图可以分别求解”。</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10 / 结构优化 2</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v2 与 v4：只差连通分量分解</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11</a:t>
            </a:r>
          </a:p>
        </p:txBody>
      </p:sp>
      <p:sp>
        <p:nvSpPr>
          <p:cNvPr id="8" name="TextBox 7"/>
          <p:cNvSpPr txBox="1"/>
          <p:nvPr/>
        </p:nvSpPr>
        <p:spPr>
          <a:xfrm>
            <a:off x="786384" y="1664208"/>
            <a:ext cx="10561320" cy="438912"/>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两个版本都用动态最大度数选点；v4 不分解，v2 把各分量拆开搜索。</a:t>
            </a:r>
          </a:p>
        </p:txBody>
      </p:sp>
      <p:sp>
        <p:nvSpPr>
          <p:cNvPr id="9" name="Rectangle 8"/>
          <p:cNvSpPr/>
          <p:nvPr/>
        </p:nvSpPr>
        <p:spPr>
          <a:xfrm>
            <a:off x="786384" y="2359152"/>
            <a:ext cx="10378440" cy="62179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2377440"/>
            <a:ext cx="2880360" cy="585216"/>
          </a:xfrm>
          <a:prstGeom prst="rect">
            <a:avLst/>
          </a:prstGeom>
          <a:noFill/>
        </p:spPr>
        <p:txBody>
          <a:bodyPr wrap="square" lIns="0" tIns="0" rIns="0" bIns="0" anchor="ctr">
            <a:spAutoFit/>
          </a:bodyPr>
          <a:lstStyle/>
          <a:p>
            <a:pPr algn="l">
              <a:spcAft>
                <a:spcPts val="0"/>
              </a:spcAft>
            </a:pPr>
            <a:r>
              <a:rPr sz="1500" b="1">
                <a:solidFill>
                  <a:srgbClr val="1F252A"/>
                </a:solidFill>
                <a:latin typeface="Microsoft YaHei"/>
              </a:rPr>
              <a:t>测试指标</a:t>
            </a:r>
          </a:p>
        </p:txBody>
      </p:sp>
      <p:sp>
        <p:nvSpPr>
          <p:cNvPr id="11" name="TextBox 10"/>
          <p:cNvSpPr txBox="1"/>
          <p:nvPr/>
        </p:nvSpPr>
        <p:spPr>
          <a:xfrm>
            <a:off x="3941063" y="2377440"/>
            <a:ext cx="2788920" cy="585216"/>
          </a:xfrm>
          <a:prstGeom prst="rect">
            <a:avLst/>
          </a:prstGeom>
          <a:noFill/>
        </p:spPr>
        <p:txBody>
          <a:bodyPr wrap="square" lIns="0" tIns="0" rIns="0" bIns="0" anchor="ctr">
            <a:spAutoFit/>
          </a:bodyPr>
          <a:lstStyle/>
          <a:p>
            <a:pPr algn="l">
              <a:spcAft>
                <a:spcPts val="0"/>
              </a:spcAft>
            </a:pPr>
            <a:r>
              <a:rPr sz="1500" b="1">
                <a:solidFill>
                  <a:srgbClr val="1F252A"/>
                </a:solidFill>
                <a:latin typeface="Microsoft YaHei"/>
              </a:rPr>
              <a:t>v4：不分解</a:t>
            </a:r>
          </a:p>
        </p:txBody>
      </p:sp>
      <p:sp>
        <p:nvSpPr>
          <p:cNvPr id="12" name="TextBox 11"/>
          <p:cNvSpPr txBox="1"/>
          <p:nvPr/>
        </p:nvSpPr>
        <p:spPr>
          <a:xfrm>
            <a:off x="6912864" y="2377440"/>
            <a:ext cx="2788920" cy="585216"/>
          </a:xfrm>
          <a:prstGeom prst="rect">
            <a:avLst/>
          </a:prstGeom>
          <a:noFill/>
        </p:spPr>
        <p:txBody>
          <a:bodyPr wrap="square" lIns="0" tIns="0" rIns="0" bIns="0" anchor="ctr">
            <a:spAutoFit/>
          </a:bodyPr>
          <a:lstStyle/>
          <a:p>
            <a:pPr algn="l">
              <a:spcAft>
                <a:spcPts val="0"/>
              </a:spcAft>
            </a:pPr>
            <a:r>
              <a:rPr sz="1500" b="1">
                <a:solidFill>
                  <a:srgbClr val="1F252A"/>
                </a:solidFill>
                <a:latin typeface="Microsoft YaHei"/>
              </a:rPr>
              <a:t>v2：分解</a:t>
            </a:r>
          </a:p>
        </p:txBody>
      </p:sp>
      <p:sp>
        <p:nvSpPr>
          <p:cNvPr id="13" name="TextBox 12"/>
          <p:cNvSpPr txBox="1"/>
          <p:nvPr/>
        </p:nvSpPr>
        <p:spPr>
          <a:xfrm>
            <a:off x="9884664" y="2377440"/>
            <a:ext cx="1188720" cy="585216"/>
          </a:xfrm>
          <a:prstGeom prst="rect">
            <a:avLst/>
          </a:prstGeom>
          <a:noFill/>
        </p:spPr>
        <p:txBody>
          <a:bodyPr wrap="square" lIns="0" tIns="0" rIns="0" bIns="0" anchor="ctr">
            <a:spAutoFit/>
          </a:bodyPr>
          <a:lstStyle/>
          <a:p>
            <a:pPr algn="l">
              <a:spcAft>
                <a:spcPts val="0"/>
              </a:spcAft>
            </a:pPr>
            <a:r>
              <a:rPr sz="1500" b="1">
                <a:solidFill>
                  <a:srgbClr val="1F252A"/>
                </a:solidFill>
                <a:latin typeface="Microsoft YaHei"/>
              </a:rPr>
              <a:t>图形</a:t>
            </a:r>
          </a:p>
        </p:txBody>
      </p:sp>
      <p:sp>
        <p:nvSpPr>
          <p:cNvPr id="14" name="Rectangle 13"/>
          <p:cNvSpPr/>
          <p:nvPr/>
        </p:nvSpPr>
        <p:spPr>
          <a:xfrm>
            <a:off x="786384" y="2980944"/>
            <a:ext cx="10378440" cy="621792"/>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 y="2999232"/>
            <a:ext cx="2880360" cy="585216"/>
          </a:xfrm>
          <a:prstGeom prst="rect">
            <a:avLst/>
          </a:prstGeom>
          <a:noFill/>
        </p:spPr>
        <p:txBody>
          <a:bodyPr wrap="square" lIns="0" tIns="0" rIns="0" bIns="0" anchor="ctr">
            <a:spAutoFit/>
          </a:bodyPr>
          <a:lstStyle/>
          <a:p>
            <a:pPr algn="l">
              <a:spcAft>
                <a:spcPts val="0"/>
              </a:spcAft>
            </a:pPr>
            <a:r>
              <a:rPr sz="1500" b="0">
                <a:solidFill>
                  <a:srgbClr val="274B6C"/>
                </a:solidFill>
                <a:latin typeface="Microsoft YaHei"/>
              </a:rPr>
              <a:t>components100 中位数</a:t>
            </a:r>
          </a:p>
        </p:txBody>
      </p:sp>
      <p:sp>
        <p:nvSpPr>
          <p:cNvPr id="16" name="TextBox 15"/>
          <p:cNvSpPr txBox="1"/>
          <p:nvPr/>
        </p:nvSpPr>
        <p:spPr>
          <a:xfrm>
            <a:off x="3941063" y="2999232"/>
            <a:ext cx="27889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76.470 ms</a:t>
            </a:r>
          </a:p>
        </p:txBody>
      </p:sp>
      <p:sp>
        <p:nvSpPr>
          <p:cNvPr id="17" name="TextBox 16"/>
          <p:cNvSpPr txBox="1"/>
          <p:nvPr/>
        </p:nvSpPr>
        <p:spPr>
          <a:xfrm>
            <a:off x="6912864" y="2999232"/>
            <a:ext cx="27889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0.083 ms</a:t>
            </a:r>
          </a:p>
        </p:txBody>
      </p:sp>
      <p:sp>
        <p:nvSpPr>
          <p:cNvPr id="18" name="TextBox 17"/>
          <p:cNvSpPr txBox="1"/>
          <p:nvPr/>
        </p:nvSpPr>
        <p:spPr>
          <a:xfrm>
            <a:off x="9884664" y="2999232"/>
            <a:ext cx="11887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多分量</a:t>
            </a:r>
          </a:p>
        </p:txBody>
      </p:sp>
      <p:cxnSp>
        <p:nvCxnSpPr>
          <p:cNvPr id="19" name="Connector 18"/>
          <p:cNvCxnSpPr/>
          <p:nvPr/>
        </p:nvCxnSpPr>
        <p:spPr>
          <a:xfrm>
            <a:off x="786384" y="3602736"/>
            <a:ext cx="1037844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77824" y="3621024"/>
            <a:ext cx="2880360" cy="585216"/>
          </a:xfrm>
          <a:prstGeom prst="rect">
            <a:avLst/>
          </a:prstGeom>
          <a:noFill/>
        </p:spPr>
        <p:txBody>
          <a:bodyPr wrap="square" lIns="0" tIns="0" rIns="0" bIns="0" anchor="ctr">
            <a:spAutoFit/>
          </a:bodyPr>
          <a:lstStyle/>
          <a:p>
            <a:pPr algn="l">
              <a:spcAft>
                <a:spcPts val="0"/>
              </a:spcAft>
            </a:pPr>
            <a:r>
              <a:rPr sz="1500" b="0">
                <a:solidFill>
                  <a:srgbClr val="274B6C"/>
                </a:solidFill>
                <a:latin typeface="Microsoft YaHei"/>
              </a:rPr>
              <a:t>path100 中位数</a:t>
            </a:r>
          </a:p>
        </p:txBody>
      </p:sp>
      <p:sp>
        <p:nvSpPr>
          <p:cNvPr id="21" name="TextBox 20"/>
          <p:cNvSpPr txBox="1"/>
          <p:nvPr/>
        </p:nvSpPr>
        <p:spPr>
          <a:xfrm>
            <a:off x="3941063" y="3621024"/>
            <a:ext cx="27889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149.884 ms</a:t>
            </a:r>
          </a:p>
        </p:txBody>
      </p:sp>
      <p:sp>
        <p:nvSpPr>
          <p:cNvPr id="22" name="TextBox 21"/>
          <p:cNvSpPr txBox="1"/>
          <p:nvPr/>
        </p:nvSpPr>
        <p:spPr>
          <a:xfrm>
            <a:off x="6912864" y="3621024"/>
            <a:ext cx="27889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150.025 ms</a:t>
            </a:r>
          </a:p>
        </p:txBody>
      </p:sp>
      <p:sp>
        <p:nvSpPr>
          <p:cNvPr id="23" name="TextBox 22"/>
          <p:cNvSpPr txBox="1"/>
          <p:nvPr/>
        </p:nvSpPr>
        <p:spPr>
          <a:xfrm>
            <a:off x="9884664" y="3621024"/>
            <a:ext cx="11887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单分量</a:t>
            </a:r>
          </a:p>
        </p:txBody>
      </p:sp>
      <p:cxnSp>
        <p:nvCxnSpPr>
          <p:cNvPr id="24" name="Connector 23"/>
          <p:cNvCxnSpPr/>
          <p:nvPr/>
        </p:nvCxnSpPr>
        <p:spPr>
          <a:xfrm>
            <a:off x="786384" y="4224528"/>
            <a:ext cx="1037844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86384" y="4224528"/>
            <a:ext cx="10378440" cy="621792"/>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7824" y="4242816"/>
            <a:ext cx="2880360" cy="585216"/>
          </a:xfrm>
          <a:prstGeom prst="rect">
            <a:avLst/>
          </a:prstGeom>
          <a:noFill/>
        </p:spPr>
        <p:txBody>
          <a:bodyPr wrap="square" lIns="0" tIns="0" rIns="0" bIns="0" anchor="ctr">
            <a:spAutoFit/>
          </a:bodyPr>
          <a:lstStyle/>
          <a:p>
            <a:pPr algn="l">
              <a:spcAft>
                <a:spcPts val="0"/>
              </a:spcAft>
            </a:pPr>
            <a:r>
              <a:rPr sz="1500" b="0">
                <a:solidFill>
                  <a:srgbClr val="274B6C"/>
                </a:solidFill>
                <a:latin typeface="Microsoft YaHei"/>
              </a:rPr>
              <a:t>全套 2460 组超时</a:t>
            </a:r>
          </a:p>
        </p:txBody>
      </p:sp>
      <p:sp>
        <p:nvSpPr>
          <p:cNvPr id="27" name="TextBox 26"/>
          <p:cNvSpPr txBox="1"/>
          <p:nvPr/>
        </p:nvSpPr>
        <p:spPr>
          <a:xfrm>
            <a:off x="3941063" y="4242816"/>
            <a:ext cx="27889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21</a:t>
            </a:r>
          </a:p>
        </p:txBody>
      </p:sp>
      <p:sp>
        <p:nvSpPr>
          <p:cNvPr id="28" name="TextBox 27"/>
          <p:cNvSpPr txBox="1"/>
          <p:nvPr/>
        </p:nvSpPr>
        <p:spPr>
          <a:xfrm>
            <a:off x="6912864" y="4242816"/>
            <a:ext cx="27889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0</a:t>
            </a:r>
          </a:p>
        </p:txBody>
      </p:sp>
      <p:sp>
        <p:nvSpPr>
          <p:cNvPr id="29" name="TextBox 28"/>
          <p:cNvSpPr txBox="1"/>
          <p:nvPr/>
        </p:nvSpPr>
        <p:spPr>
          <a:xfrm>
            <a:off x="9884664" y="4242816"/>
            <a:ext cx="1188720" cy="585216"/>
          </a:xfrm>
          <a:prstGeom prst="rect">
            <a:avLst/>
          </a:prstGeom>
          <a:noFill/>
        </p:spPr>
        <p:txBody>
          <a:bodyPr wrap="square" lIns="0" tIns="0" rIns="0" bIns="0" anchor="ctr">
            <a:spAutoFit/>
          </a:bodyPr>
          <a:lstStyle/>
          <a:p>
            <a:pPr algn="l">
              <a:spcAft>
                <a:spcPts val="0"/>
              </a:spcAft>
            </a:pPr>
            <a:r>
              <a:rPr sz="1500" b="0">
                <a:solidFill>
                  <a:srgbClr val="1F252A"/>
                </a:solidFill>
                <a:latin typeface="Microsoft YaHei"/>
              </a:rPr>
              <a:t>full</a:t>
            </a:r>
          </a:p>
        </p:txBody>
      </p:sp>
      <p:cxnSp>
        <p:nvCxnSpPr>
          <p:cNvPr id="30" name="Connector 29"/>
          <p:cNvCxnSpPr/>
          <p:nvPr/>
        </p:nvCxnSpPr>
        <p:spPr>
          <a:xfrm>
            <a:off x="786384" y="4846320"/>
            <a:ext cx="1037844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86384" y="5230368"/>
            <a:ext cx="10561320" cy="62179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87552" y="5358384"/>
            <a:ext cx="10149840" cy="365760"/>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多分量图收益显著；只有一个分量的路径图，拆分前后耗时接近。</a:t>
            </a:r>
          </a:p>
        </p:txBody>
      </p:sp>
      <p:sp>
        <p:nvSpPr>
          <p:cNvPr id="33" name="TextBox 32"/>
          <p:cNvSpPr txBox="1"/>
          <p:nvPr/>
        </p:nvSpPr>
        <p:spPr>
          <a:xfrm>
            <a:off x="685800" y="6062472"/>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来自 v1–v4 同轮测试：2460 组输入，5 秒超时上限；v2/v4 仅分解策略不同。</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11 / 树形 DP 1</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无环的连通分量就是树</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12</a:t>
            </a:r>
          </a:p>
        </p:txBody>
      </p:sp>
      <p:sp>
        <p:nvSpPr>
          <p:cNvPr id="8" name="TextBox 7"/>
          <p:cNvSpPr txBox="1"/>
          <p:nvPr/>
        </p:nvSpPr>
        <p:spPr>
          <a:xfrm>
            <a:off x="786384" y="1664208"/>
            <a:ext cx="10561320" cy="420624"/>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分量分解把全图拆成独立问题；现在看单个连通分量有没有环。</a:t>
            </a:r>
          </a:p>
        </p:txBody>
      </p:sp>
      <p:cxnSp>
        <p:nvCxnSpPr>
          <p:cNvPr id="9" name="Connector 8"/>
          <p:cNvCxnSpPr/>
          <p:nvPr/>
        </p:nvCxnSpPr>
        <p:spPr>
          <a:xfrm flipH="1">
            <a:off x="2029968" y="2377440"/>
            <a:ext cx="914400" cy="905256"/>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944368" y="2377440"/>
            <a:ext cx="914400" cy="905256"/>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499616" y="3282696"/>
            <a:ext cx="530352" cy="96012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29968" y="3282696"/>
            <a:ext cx="502920" cy="96012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355848" y="3282696"/>
            <a:ext cx="502920" cy="96012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858768" y="3282696"/>
            <a:ext cx="530352" cy="96012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743200" y="2176272"/>
            <a:ext cx="402336" cy="402336"/>
          </a:xfrm>
          <a:prstGeom prst="ellipse">
            <a:avLst/>
          </a:prstGeom>
          <a:solidFill>
            <a:srgbClr val="274B6C"/>
          </a:solidFill>
          <a:ln w="17780">
            <a:solidFill>
              <a:srgbClr val="274B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0" y="2180844"/>
            <a:ext cx="402336" cy="393192"/>
          </a:xfrm>
          <a:prstGeom prst="rect">
            <a:avLst/>
          </a:prstGeom>
          <a:noFill/>
        </p:spPr>
        <p:txBody>
          <a:bodyPr wrap="square" lIns="0" tIns="0" rIns="0" bIns="0" anchor="ctr">
            <a:spAutoFit/>
          </a:bodyPr>
          <a:lstStyle/>
          <a:p>
            <a:pPr algn="ctr">
              <a:spcAft>
                <a:spcPts val="0"/>
              </a:spcAft>
            </a:pPr>
            <a:r>
              <a:rPr sz="1100" b="1">
                <a:solidFill>
                  <a:srgbClr val="FFFFFF"/>
                </a:solidFill>
                <a:latin typeface="Microsoft YaHei"/>
              </a:rPr>
              <a:t>R</a:t>
            </a:r>
          </a:p>
        </p:txBody>
      </p:sp>
      <p:sp>
        <p:nvSpPr>
          <p:cNvPr id="17" name="Oval 16"/>
          <p:cNvSpPr/>
          <p:nvPr/>
        </p:nvSpPr>
        <p:spPr>
          <a:xfrm>
            <a:off x="1828800" y="308152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28800" y="3086100"/>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A</a:t>
            </a:r>
          </a:p>
        </p:txBody>
      </p:sp>
      <p:sp>
        <p:nvSpPr>
          <p:cNvPr id="19" name="Oval 18"/>
          <p:cNvSpPr/>
          <p:nvPr/>
        </p:nvSpPr>
        <p:spPr>
          <a:xfrm>
            <a:off x="3657600" y="308152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0" y="3086100"/>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B</a:t>
            </a:r>
          </a:p>
        </p:txBody>
      </p:sp>
      <p:sp>
        <p:nvSpPr>
          <p:cNvPr id="21" name="Oval 20"/>
          <p:cNvSpPr/>
          <p:nvPr/>
        </p:nvSpPr>
        <p:spPr>
          <a:xfrm>
            <a:off x="1298448" y="404164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98448" y="4046220"/>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C</a:t>
            </a:r>
          </a:p>
        </p:txBody>
      </p:sp>
      <p:sp>
        <p:nvSpPr>
          <p:cNvPr id="23" name="Oval 22"/>
          <p:cNvSpPr/>
          <p:nvPr/>
        </p:nvSpPr>
        <p:spPr>
          <a:xfrm>
            <a:off x="2331720" y="404164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331720" y="4046220"/>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D</a:t>
            </a:r>
          </a:p>
        </p:txBody>
      </p:sp>
      <p:sp>
        <p:nvSpPr>
          <p:cNvPr id="25" name="Oval 24"/>
          <p:cNvSpPr/>
          <p:nvPr/>
        </p:nvSpPr>
        <p:spPr>
          <a:xfrm>
            <a:off x="3154680" y="404164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54680" y="4046220"/>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E</a:t>
            </a:r>
          </a:p>
        </p:txBody>
      </p:sp>
      <p:sp>
        <p:nvSpPr>
          <p:cNvPr id="27" name="Oval 26"/>
          <p:cNvSpPr/>
          <p:nvPr/>
        </p:nvSpPr>
        <p:spPr>
          <a:xfrm>
            <a:off x="4187952" y="4041648"/>
            <a:ext cx="402336" cy="402336"/>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87952" y="4046220"/>
            <a:ext cx="402336" cy="393192"/>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F</a:t>
            </a:r>
          </a:p>
        </p:txBody>
      </p:sp>
      <p:sp>
        <p:nvSpPr>
          <p:cNvPr id="29" name="TextBox 28"/>
          <p:cNvSpPr txBox="1"/>
          <p:nvPr/>
        </p:nvSpPr>
        <p:spPr>
          <a:xfrm>
            <a:off x="2898648" y="1911095"/>
            <a:ext cx="457200" cy="228600"/>
          </a:xfrm>
          <a:prstGeom prst="rect">
            <a:avLst/>
          </a:prstGeom>
          <a:noFill/>
        </p:spPr>
        <p:txBody>
          <a:bodyPr wrap="square" lIns="0" tIns="0" rIns="0" bIns="0" anchor="ctr">
            <a:spAutoFit/>
          </a:bodyPr>
          <a:lstStyle/>
          <a:p>
            <a:pPr algn="l">
              <a:spcAft>
                <a:spcPts val="0"/>
              </a:spcAft>
            </a:pPr>
            <a:r>
              <a:rPr sz="1200" b="1">
                <a:solidFill>
                  <a:srgbClr val="274B6C"/>
                </a:solidFill>
                <a:latin typeface="Microsoft YaHei"/>
              </a:rPr>
              <a:t>根</a:t>
            </a:r>
          </a:p>
        </p:txBody>
      </p:sp>
      <p:sp>
        <p:nvSpPr>
          <p:cNvPr id="30" name="TextBox 29"/>
          <p:cNvSpPr txBox="1"/>
          <p:nvPr/>
        </p:nvSpPr>
        <p:spPr>
          <a:xfrm>
            <a:off x="896112" y="2953512"/>
            <a:ext cx="822960" cy="274320"/>
          </a:xfrm>
          <a:prstGeom prst="rect">
            <a:avLst/>
          </a:prstGeom>
          <a:noFill/>
        </p:spPr>
        <p:txBody>
          <a:bodyPr wrap="square" lIns="0" tIns="0" rIns="0" bIns="0" anchor="ctr">
            <a:spAutoFit/>
          </a:bodyPr>
          <a:lstStyle/>
          <a:p>
            <a:pPr algn="l">
              <a:spcAft>
                <a:spcPts val="0"/>
              </a:spcAft>
            </a:pPr>
            <a:r>
              <a:rPr sz="1300" b="1">
                <a:solidFill>
                  <a:srgbClr val="5B636A"/>
                </a:solidFill>
                <a:latin typeface="Microsoft YaHei"/>
              </a:rPr>
              <a:t>父节点</a:t>
            </a:r>
          </a:p>
        </p:txBody>
      </p:sp>
      <p:sp>
        <p:nvSpPr>
          <p:cNvPr id="31" name="TextBox 30"/>
          <p:cNvSpPr txBox="1"/>
          <p:nvPr/>
        </p:nvSpPr>
        <p:spPr>
          <a:xfrm>
            <a:off x="4361688" y="4041648"/>
            <a:ext cx="914400" cy="274320"/>
          </a:xfrm>
          <a:prstGeom prst="rect">
            <a:avLst/>
          </a:prstGeom>
          <a:noFill/>
        </p:spPr>
        <p:txBody>
          <a:bodyPr wrap="square" lIns="0" tIns="0" rIns="0" bIns="0" anchor="ctr">
            <a:spAutoFit/>
          </a:bodyPr>
          <a:lstStyle/>
          <a:p>
            <a:pPr algn="l">
              <a:spcAft>
                <a:spcPts val="0"/>
              </a:spcAft>
            </a:pPr>
            <a:r>
              <a:rPr sz="1300" b="1">
                <a:solidFill>
                  <a:srgbClr val="5B636A"/>
                </a:solidFill>
                <a:latin typeface="Microsoft YaHei"/>
              </a:rPr>
              <a:t>孩子节点</a:t>
            </a:r>
          </a:p>
        </p:txBody>
      </p:sp>
      <p:cxnSp>
        <p:nvCxnSpPr>
          <p:cNvPr id="32" name="Connector 31"/>
          <p:cNvCxnSpPr/>
          <p:nvPr/>
        </p:nvCxnSpPr>
        <p:spPr>
          <a:xfrm>
            <a:off x="5532120" y="1874519"/>
            <a:ext cx="0" cy="2953513"/>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925312" y="1965960"/>
            <a:ext cx="5166360" cy="393192"/>
          </a:xfrm>
          <a:prstGeom prst="rect">
            <a:avLst/>
          </a:prstGeom>
          <a:noFill/>
        </p:spPr>
        <p:txBody>
          <a:bodyPr wrap="square" lIns="0" tIns="0" rIns="0" bIns="0" anchor="ctr">
            <a:spAutoFit/>
          </a:bodyPr>
          <a:lstStyle/>
          <a:p>
            <a:pPr algn="l">
              <a:spcAft>
                <a:spcPts val="0"/>
              </a:spcAft>
            </a:pPr>
            <a:r>
              <a:rPr sz="1900" b="1">
                <a:solidFill>
                  <a:srgbClr val="274B6C"/>
                </a:solidFill>
                <a:latin typeface="Microsoft YaHei"/>
              </a:rPr>
              <a:t>无环的连通图就是树。</a:t>
            </a:r>
          </a:p>
        </p:txBody>
      </p:sp>
      <p:sp>
        <p:nvSpPr>
          <p:cNvPr id="34" name="TextBox 33"/>
          <p:cNvSpPr txBox="1"/>
          <p:nvPr/>
        </p:nvSpPr>
        <p:spPr>
          <a:xfrm>
            <a:off x="5925312" y="2606040"/>
            <a:ext cx="5166360" cy="658368"/>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选一个根后，每个其他节点都有一个父节点，也可以有多个孩子。</a:t>
            </a:r>
          </a:p>
        </p:txBody>
      </p:sp>
      <p:sp>
        <p:nvSpPr>
          <p:cNvPr id="35" name="TextBox 34"/>
          <p:cNvSpPr txBox="1"/>
          <p:nvPr/>
        </p:nvSpPr>
        <p:spPr>
          <a:xfrm>
            <a:off x="5925312" y="3456432"/>
            <a:ext cx="5166360" cy="658368"/>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选中父节点，孩子不能选；不选父节点，孩子可选也可不选。</a:t>
            </a:r>
          </a:p>
        </p:txBody>
      </p:sp>
      <p:sp>
        <p:nvSpPr>
          <p:cNvPr id="36" name="TextBox 35"/>
          <p:cNvSpPr txBox="1"/>
          <p:nvPr/>
        </p:nvSpPr>
        <p:spPr>
          <a:xfrm>
            <a:off x="5925312" y="4297680"/>
            <a:ext cx="5166360" cy="566928"/>
          </a:xfrm>
          <a:prstGeom prst="rect">
            <a:avLst/>
          </a:prstGeom>
          <a:noFill/>
        </p:spPr>
        <p:txBody>
          <a:bodyPr wrap="square" lIns="0" tIns="0" rIns="0" bIns="0" anchor="ctr">
            <a:spAutoFit/>
          </a:bodyPr>
          <a:lstStyle/>
          <a:p>
            <a:pPr algn="l">
              <a:spcAft>
                <a:spcPts val="0"/>
              </a:spcAft>
            </a:pPr>
            <a:r>
              <a:rPr sz="1700" b="1">
                <a:solidFill>
                  <a:srgbClr val="1F252A"/>
                </a:solidFill>
                <a:latin typeface="Microsoft YaHei"/>
              </a:rPr>
              <a:t>不同孩子的子树之间没有边，可以分别计算再合并。</a:t>
            </a:r>
          </a:p>
        </p:txBody>
      </p:sp>
      <p:sp>
        <p:nvSpPr>
          <p:cNvPr id="37" name="Rectangle 36"/>
          <p:cNvSpPr/>
          <p:nvPr/>
        </p:nvSpPr>
        <p:spPr>
          <a:xfrm>
            <a:off x="786384" y="5239512"/>
            <a:ext cx="10561320" cy="557784"/>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78408" y="5349240"/>
            <a:ext cx="10131552" cy="338328"/>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每个节点的选取状态只受父节点影响，也只影响子节点；这种局部传递很像马尔可夫链。</a:t>
            </a:r>
          </a:p>
        </p:txBody>
      </p:sp>
      <p:sp>
        <p:nvSpPr>
          <p:cNvPr id="39" name="TextBox 38"/>
          <p:cNvSpPr txBox="1"/>
          <p:nvPr/>
        </p:nvSpPr>
        <p:spPr>
          <a:xfrm>
            <a:off x="685800" y="6108192"/>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无环的连通图就是树；选定根后，状态按父子关系传递。</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12 / 树形 DP 2</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树上每个节点只需“选 / 不选”两个状态</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13</a:t>
            </a:r>
          </a:p>
        </p:txBody>
      </p:sp>
      <p:sp>
        <p:nvSpPr>
          <p:cNvPr id="8" name="TextBox 7"/>
          <p:cNvSpPr txBox="1"/>
          <p:nvPr/>
        </p:nvSpPr>
        <p:spPr>
          <a:xfrm>
            <a:off x="786384" y="1664208"/>
            <a:ext cx="10561320" cy="438912"/>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take(v)：选中 v 时，v 的子树能得到的最高分；skip(v)：不选 v 时的最高分。</a:t>
            </a:r>
          </a:p>
        </p:txBody>
      </p:sp>
      <p:sp>
        <p:nvSpPr>
          <p:cNvPr id="9" name="Rectangle 8"/>
          <p:cNvSpPr/>
          <p:nvPr/>
        </p:nvSpPr>
        <p:spPr>
          <a:xfrm>
            <a:off x="786384" y="2359152"/>
            <a:ext cx="10561320" cy="932688"/>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78992" y="2496312"/>
            <a:ext cx="10012680" cy="347472"/>
          </a:xfrm>
          <a:prstGeom prst="rect">
            <a:avLst/>
          </a:prstGeom>
          <a:noFill/>
        </p:spPr>
        <p:txBody>
          <a:bodyPr wrap="square" lIns="0" tIns="0" rIns="0" bIns="0" anchor="ctr">
            <a:spAutoFit/>
          </a:bodyPr>
          <a:lstStyle/>
          <a:p>
            <a:pPr algn="l">
              <a:spcAft>
                <a:spcPts val="0"/>
              </a:spcAft>
            </a:pPr>
            <a:r>
              <a:rPr sz="2100" b="1">
                <a:solidFill>
                  <a:srgbClr val="274B6C"/>
                </a:solidFill>
                <a:latin typeface="Microsoft YaHei"/>
              </a:rPr>
              <a:t>take(v) = w(v) + Σ skip(u)</a:t>
            </a:r>
          </a:p>
        </p:txBody>
      </p:sp>
      <p:sp>
        <p:nvSpPr>
          <p:cNvPr id="11" name="TextBox 10"/>
          <p:cNvSpPr txBox="1"/>
          <p:nvPr/>
        </p:nvSpPr>
        <p:spPr>
          <a:xfrm>
            <a:off x="1097280" y="2871216"/>
            <a:ext cx="9966960" cy="292608"/>
          </a:xfrm>
          <a:prstGeom prst="rect">
            <a:avLst/>
          </a:prstGeom>
          <a:noFill/>
        </p:spPr>
        <p:txBody>
          <a:bodyPr wrap="square" lIns="0" tIns="0" rIns="0" bIns="0" anchor="ctr">
            <a:spAutoFit/>
          </a:bodyPr>
          <a:lstStyle/>
          <a:p>
            <a:pPr algn="l">
              <a:spcAft>
                <a:spcPts val="0"/>
              </a:spcAft>
            </a:pPr>
            <a:r>
              <a:rPr sz="1400" b="0">
                <a:solidFill>
                  <a:srgbClr val="5B636A"/>
                </a:solidFill>
                <a:latin typeface="Microsoft YaHei"/>
              </a:rPr>
              <a:t>u 是 v 的孩子：选 v 后，每个孩子都不能选。</a:t>
            </a:r>
          </a:p>
        </p:txBody>
      </p:sp>
      <p:sp>
        <p:nvSpPr>
          <p:cNvPr id="12" name="Rectangle 11"/>
          <p:cNvSpPr/>
          <p:nvPr/>
        </p:nvSpPr>
        <p:spPr>
          <a:xfrm>
            <a:off x="786384" y="3511296"/>
            <a:ext cx="10561320" cy="932688"/>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3648456"/>
            <a:ext cx="10012680" cy="347472"/>
          </a:xfrm>
          <a:prstGeom prst="rect">
            <a:avLst/>
          </a:prstGeom>
          <a:noFill/>
        </p:spPr>
        <p:txBody>
          <a:bodyPr wrap="square" lIns="0" tIns="0" rIns="0" bIns="0" anchor="ctr">
            <a:spAutoFit/>
          </a:bodyPr>
          <a:lstStyle/>
          <a:p>
            <a:pPr algn="l">
              <a:spcAft>
                <a:spcPts val="0"/>
              </a:spcAft>
            </a:pPr>
            <a:r>
              <a:rPr sz="2100" b="1">
                <a:solidFill>
                  <a:srgbClr val="274B6C"/>
                </a:solidFill>
                <a:latin typeface="Microsoft YaHei"/>
              </a:rPr>
              <a:t>skip(v) = Σ max(take(u), skip(u))</a:t>
            </a:r>
          </a:p>
        </p:txBody>
      </p:sp>
      <p:sp>
        <p:nvSpPr>
          <p:cNvPr id="14" name="TextBox 13"/>
          <p:cNvSpPr txBox="1"/>
          <p:nvPr/>
        </p:nvSpPr>
        <p:spPr>
          <a:xfrm>
            <a:off x="1097280" y="4023360"/>
            <a:ext cx="9966960" cy="292608"/>
          </a:xfrm>
          <a:prstGeom prst="rect">
            <a:avLst/>
          </a:prstGeom>
          <a:noFill/>
        </p:spPr>
        <p:txBody>
          <a:bodyPr wrap="square" lIns="0" tIns="0" rIns="0" bIns="0" anchor="ctr">
            <a:spAutoFit/>
          </a:bodyPr>
          <a:lstStyle/>
          <a:p>
            <a:pPr algn="l">
              <a:spcAft>
                <a:spcPts val="0"/>
              </a:spcAft>
            </a:pPr>
            <a:r>
              <a:rPr sz="1400" b="0">
                <a:solidFill>
                  <a:srgbClr val="5B636A"/>
                </a:solidFill>
                <a:latin typeface="Microsoft YaHei"/>
              </a:rPr>
              <a:t>不选 v 后，每个孩子都可在选 / 不选中取分数较高的一种。</a:t>
            </a:r>
          </a:p>
        </p:txBody>
      </p:sp>
      <p:sp>
        <p:nvSpPr>
          <p:cNvPr id="15" name="TextBox 14"/>
          <p:cNvSpPr txBox="1"/>
          <p:nvPr/>
        </p:nvSpPr>
        <p:spPr>
          <a:xfrm>
            <a:off x="786384" y="4690872"/>
            <a:ext cx="10561320" cy="438912"/>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叶子：take(v)=w(v)，skip(v)=0；从叶子开始，一层层向根递推。</a:t>
            </a:r>
          </a:p>
        </p:txBody>
      </p:sp>
      <p:sp>
        <p:nvSpPr>
          <p:cNvPr id="16" name="Rectangle 15"/>
          <p:cNvSpPr/>
          <p:nvPr/>
        </p:nvSpPr>
        <p:spPr>
          <a:xfrm>
            <a:off x="786384" y="5330952"/>
            <a:ext cx="10561320" cy="585216"/>
          </a:xfrm>
          <a:prstGeom prst="rect">
            <a:avLst/>
          </a:prstGeom>
          <a:solidFill>
            <a:srgbClr val="FFFFFF"/>
          </a:solidFill>
          <a:ln w="12700">
            <a:solidFill>
              <a:srgbClr val="D0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5440680"/>
            <a:ext cx="10195560" cy="365760"/>
          </a:xfrm>
          <a:prstGeom prst="rect">
            <a:avLst/>
          </a:prstGeom>
          <a:noFill/>
        </p:spPr>
        <p:txBody>
          <a:bodyPr wrap="square" lIns="0" tIns="0" rIns="0" bIns="0" anchor="ctr">
            <a:spAutoFit/>
          </a:bodyPr>
          <a:lstStyle/>
          <a:p>
            <a:pPr algn="l">
              <a:spcAft>
                <a:spcPts val="0"/>
              </a:spcAft>
            </a:pPr>
            <a:r>
              <a:rPr sz="1500" b="1">
                <a:solidFill>
                  <a:srgbClr val="1F252A"/>
                </a:solidFill>
                <a:latin typeface="Microsoft YaHei"/>
              </a:rPr>
              <a:t>依据这两条递归关系，可以反向从叶子向根递推；最后从根回溯重建答案。</a:t>
            </a:r>
          </a:p>
        </p:txBody>
      </p:sp>
      <p:sp>
        <p:nvSpPr>
          <p:cNvPr id="18" name="TextBox 17"/>
          <p:cNvSpPr txBox="1"/>
          <p:nvPr/>
        </p:nvSpPr>
        <p:spPr>
          <a:xfrm>
            <a:off x="685800" y="6126480"/>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M=100 路径：v2 80.479 ms → v6 0.0046 ms；树：4.521 ms → 0.0071 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13 / v6 → v7</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v7：回溯后，环图可能变成森林</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14</a:t>
            </a:r>
          </a:p>
        </p:txBody>
      </p:sp>
      <p:cxnSp>
        <p:nvCxnSpPr>
          <p:cNvPr id="8" name="Connector 7"/>
          <p:cNvCxnSpPr/>
          <p:nvPr/>
        </p:nvCxnSpPr>
        <p:spPr>
          <a:xfrm flipV="1">
            <a:off x="1325880" y="2395728"/>
            <a:ext cx="886968" cy="630936"/>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212848" y="2395728"/>
            <a:ext cx="896112" cy="630936"/>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108960" y="3026664"/>
            <a:ext cx="0" cy="905256"/>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212848" y="3931920"/>
            <a:ext cx="896112" cy="621792"/>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325880" y="3931920"/>
            <a:ext cx="886968" cy="621792"/>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325880" y="3026664"/>
            <a:ext cx="0" cy="905256"/>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143000" y="2843784"/>
            <a:ext cx="384048" cy="384048"/>
          </a:xfrm>
          <a:prstGeom prst="ellipse">
            <a:avLst/>
          </a:prstGeom>
          <a:solidFill>
            <a:srgbClr val="274B6C"/>
          </a:solidFill>
          <a:ln w="17780">
            <a:solidFill>
              <a:srgbClr val="274B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2848356"/>
            <a:ext cx="384048" cy="374904"/>
          </a:xfrm>
          <a:prstGeom prst="rect">
            <a:avLst/>
          </a:prstGeom>
          <a:noFill/>
        </p:spPr>
        <p:txBody>
          <a:bodyPr wrap="square" lIns="0" tIns="0" rIns="0" bIns="0" anchor="ctr">
            <a:spAutoFit/>
          </a:bodyPr>
          <a:lstStyle/>
          <a:p>
            <a:pPr algn="ctr">
              <a:spcAft>
                <a:spcPts val="0"/>
              </a:spcAft>
            </a:pPr>
            <a:r>
              <a:rPr sz="1100" b="1">
                <a:solidFill>
                  <a:srgbClr val="FFFFFF"/>
                </a:solidFill>
                <a:latin typeface="Microsoft YaHei"/>
              </a:rPr>
              <a:t>1</a:t>
            </a:r>
          </a:p>
        </p:txBody>
      </p:sp>
      <p:sp>
        <p:nvSpPr>
          <p:cNvPr id="16" name="Oval 15"/>
          <p:cNvSpPr/>
          <p:nvPr/>
        </p:nvSpPr>
        <p:spPr>
          <a:xfrm>
            <a:off x="2029968" y="2212848"/>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29968" y="2217420"/>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2</a:t>
            </a:r>
          </a:p>
        </p:txBody>
      </p:sp>
      <p:sp>
        <p:nvSpPr>
          <p:cNvPr id="18" name="Oval 17"/>
          <p:cNvSpPr/>
          <p:nvPr/>
        </p:nvSpPr>
        <p:spPr>
          <a:xfrm>
            <a:off x="2926080" y="2843784"/>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0" y="2848356"/>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3</a:t>
            </a:r>
          </a:p>
        </p:txBody>
      </p:sp>
      <p:sp>
        <p:nvSpPr>
          <p:cNvPr id="20" name="Oval 19"/>
          <p:cNvSpPr/>
          <p:nvPr/>
        </p:nvSpPr>
        <p:spPr>
          <a:xfrm>
            <a:off x="2926080" y="3749039"/>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26080" y="3753611"/>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4</a:t>
            </a:r>
          </a:p>
        </p:txBody>
      </p:sp>
      <p:sp>
        <p:nvSpPr>
          <p:cNvPr id="22" name="Oval 21"/>
          <p:cNvSpPr/>
          <p:nvPr/>
        </p:nvSpPr>
        <p:spPr>
          <a:xfrm>
            <a:off x="2029968" y="4370832"/>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29968" y="4375404"/>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5</a:t>
            </a:r>
          </a:p>
        </p:txBody>
      </p:sp>
      <p:sp>
        <p:nvSpPr>
          <p:cNvPr id="24" name="Oval 23"/>
          <p:cNvSpPr/>
          <p:nvPr/>
        </p:nvSpPr>
        <p:spPr>
          <a:xfrm>
            <a:off x="1143000" y="3749039"/>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43000" y="3753611"/>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6</a:t>
            </a:r>
          </a:p>
        </p:txBody>
      </p:sp>
      <p:sp>
        <p:nvSpPr>
          <p:cNvPr id="26" name="TextBox 25"/>
          <p:cNvSpPr txBox="1"/>
          <p:nvPr/>
        </p:nvSpPr>
        <p:spPr>
          <a:xfrm>
            <a:off x="1078992" y="1874519"/>
            <a:ext cx="3154680" cy="365760"/>
          </a:xfrm>
          <a:prstGeom prst="rect">
            <a:avLst/>
          </a:prstGeom>
          <a:noFill/>
        </p:spPr>
        <p:txBody>
          <a:bodyPr wrap="square" lIns="0" tIns="0" rIns="0" bIns="0" anchor="ctr">
            <a:spAutoFit/>
          </a:bodyPr>
          <a:lstStyle/>
          <a:p>
            <a:pPr algn="l">
              <a:spcAft>
                <a:spcPts val="0"/>
              </a:spcAft>
            </a:pPr>
            <a:r>
              <a:rPr sz="1800" b="1">
                <a:solidFill>
                  <a:srgbClr val="1F252A"/>
                </a:solidFill>
                <a:latin typeface="Microsoft YaHei"/>
              </a:rPr>
              <a:t>原始分量：有环</a:t>
            </a:r>
          </a:p>
        </p:txBody>
      </p:sp>
      <p:sp>
        <p:nvSpPr>
          <p:cNvPr id="27" name="TextBox 26"/>
          <p:cNvSpPr txBox="1"/>
          <p:nvPr/>
        </p:nvSpPr>
        <p:spPr>
          <a:xfrm>
            <a:off x="4142232" y="3182112"/>
            <a:ext cx="1828800" cy="347472"/>
          </a:xfrm>
          <a:prstGeom prst="rect">
            <a:avLst/>
          </a:prstGeom>
          <a:noFill/>
        </p:spPr>
        <p:txBody>
          <a:bodyPr wrap="square" lIns="0" tIns="0" rIns="0" bIns="0" anchor="ctr">
            <a:spAutoFit/>
          </a:bodyPr>
          <a:lstStyle/>
          <a:p>
            <a:pPr algn="l">
              <a:spcAft>
                <a:spcPts val="0"/>
              </a:spcAft>
            </a:pPr>
            <a:r>
              <a:rPr sz="1700" b="1">
                <a:solidFill>
                  <a:srgbClr val="274B6C"/>
                </a:solidFill>
                <a:latin typeface="Microsoft YaHei"/>
              </a:rPr>
              <a:t>删去候选点</a:t>
            </a:r>
          </a:p>
        </p:txBody>
      </p:sp>
      <p:cxnSp>
        <p:nvCxnSpPr>
          <p:cNvPr id="28" name="Connector 27"/>
          <p:cNvCxnSpPr/>
          <p:nvPr/>
        </p:nvCxnSpPr>
        <p:spPr>
          <a:xfrm>
            <a:off x="4114800" y="3547872"/>
            <a:ext cx="1508760" cy="0"/>
          </a:xfrm>
          <a:prstGeom prst="line">
            <a:avLst/>
          </a:prstGeom>
          <a:ln w="21590">
            <a:solidFill>
              <a:srgbClr val="274B6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720840" y="3456432"/>
            <a:ext cx="914400" cy="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635240" y="3456432"/>
            <a:ext cx="914400" cy="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549640" y="3456432"/>
            <a:ext cx="914400" cy="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64040" y="3456432"/>
            <a:ext cx="914400" cy="0"/>
          </a:xfrm>
          <a:prstGeom prst="line">
            <a:avLst/>
          </a:prstGeom>
          <a:ln w="16510">
            <a:solidFill>
              <a:srgbClr val="5B636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6537960" y="3273552"/>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37960" y="3278124"/>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2</a:t>
            </a:r>
          </a:p>
        </p:txBody>
      </p:sp>
      <p:sp>
        <p:nvSpPr>
          <p:cNvPr id="35" name="Oval 34"/>
          <p:cNvSpPr/>
          <p:nvPr/>
        </p:nvSpPr>
        <p:spPr>
          <a:xfrm>
            <a:off x="7452360" y="3273552"/>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52360" y="3278124"/>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3</a:t>
            </a:r>
          </a:p>
        </p:txBody>
      </p:sp>
      <p:sp>
        <p:nvSpPr>
          <p:cNvPr id="37" name="Oval 36"/>
          <p:cNvSpPr/>
          <p:nvPr/>
        </p:nvSpPr>
        <p:spPr>
          <a:xfrm>
            <a:off x="8366760" y="3273552"/>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66760" y="3278124"/>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4</a:t>
            </a:r>
          </a:p>
        </p:txBody>
      </p:sp>
      <p:sp>
        <p:nvSpPr>
          <p:cNvPr id="39" name="Oval 38"/>
          <p:cNvSpPr/>
          <p:nvPr/>
        </p:nvSpPr>
        <p:spPr>
          <a:xfrm>
            <a:off x="9281160" y="3273552"/>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281160" y="3278124"/>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5</a:t>
            </a:r>
          </a:p>
        </p:txBody>
      </p:sp>
      <p:sp>
        <p:nvSpPr>
          <p:cNvPr id="41" name="Oval 40"/>
          <p:cNvSpPr/>
          <p:nvPr/>
        </p:nvSpPr>
        <p:spPr>
          <a:xfrm>
            <a:off x="10195560" y="3273552"/>
            <a:ext cx="384048" cy="384048"/>
          </a:xfrm>
          <a:prstGeom prst="ellipse">
            <a:avLst/>
          </a:prstGeom>
          <a:solidFill>
            <a:srgbClr val="FFFFFF"/>
          </a:solidFill>
          <a:ln w="17780">
            <a:solidFill>
              <a:srgbClr val="5B63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195560" y="3278124"/>
            <a:ext cx="384048" cy="374904"/>
          </a:xfrm>
          <a:prstGeom prst="rect">
            <a:avLst/>
          </a:prstGeom>
          <a:noFill/>
        </p:spPr>
        <p:txBody>
          <a:bodyPr wrap="square" lIns="0" tIns="0" rIns="0" bIns="0" anchor="ctr">
            <a:spAutoFit/>
          </a:bodyPr>
          <a:lstStyle/>
          <a:p>
            <a:pPr algn="ctr">
              <a:spcAft>
                <a:spcPts val="0"/>
              </a:spcAft>
            </a:pPr>
            <a:r>
              <a:rPr sz="1100" b="1">
                <a:solidFill>
                  <a:srgbClr val="1F252A"/>
                </a:solidFill>
                <a:latin typeface="Microsoft YaHei"/>
              </a:rPr>
              <a:t>6</a:t>
            </a:r>
          </a:p>
        </p:txBody>
      </p:sp>
      <p:sp>
        <p:nvSpPr>
          <p:cNvPr id="43" name="TextBox 42"/>
          <p:cNvSpPr txBox="1"/>
          <p:nvPr/>
        </p:nvSpPr>
        <p:spPr>
          <a:xfrm>
            <a:off x="6473952" y="2395728"/>
            <a:ext cx="4572000" cy="365760"/>
          </a:xfrm>
          <a:prstGeom prst="rect">
            <a:avLst/>
          </a:prstGeom>
          <a:noFill/>
        </p:spPr>
        <p:txBody>
          <a:bodyPr wrap="square" lIns="0" tIns="0" rIns="0" bIns="0" anchor="ctr">
            <a:spAutoFit/>
          </a:bodyPr>
          <a:lstStyle/>
          <a:p>
            <a:pPr algn="l">
              <a:spcAft>
                <a:spcPts val="0"/>
              </a:spcAft>
            </a:pPr>
            <a:r>
              <a:rPr sz="1800" b="1">
                <a:solidFill>
                  <a:srgbClr val="1F252A"/>
                </a:solidFill>
                <a:latin typeface="Microsoft YaHei"/>
              </a:rPr>
              <a:t>剩余候选图：无环</a:t>
            </a:r>
          </a:p>
        </p:txBody>
      </p:sp>
      <p:sp>
        <p:nvSpPr>
          <p:cNvPr id="44" name="Rectangle 43"/>
          <p:cNvSpPr/>
          <p:nvPr/>
        </p:nvSpPr>
        <p:spPr>
          <a:xfrm>
            <a:off x="6373368" y="4206240"/>
            <a:ext cx="4736592" cy="630936"/>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37960" y="4334256"/>
            <a:ext cx="4434840" cy="329184"/>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检测成功 → 森林 DP 结束该分支</a:t>
            </a:r>
          </a:p>
        </p:txBody>
      </p:sp>
      <p:sp>
        <p:nvSpPr>
          <p:cNvPr id="46" name="TextBox 45"/>
          <p:cNvSpPr txBox="1"/>
          <p:nvPr/>
        </p:nvSpPr>
        <p:spPr>
          <a:xfrm>
            <a:off x="1097280" y="5193792"/>
            <a:ext cx="5669280" cy="512064"/>
          </a:xfrm>
          <a:prstGeom prst="rect">
            <a:avLst/>
          </a:prstGeom>
          <a:noFill/>
        </p:spPr>
        <p:txBody>
          <a:bodyPr wrap="square" lIns="0" tIns="0" rIns="0" bIns="0" anchor="ctr">
            <a:spAutoFit/>
          </a:bodyPr>
          <a:lstStyle/>
          <a:p>
            <a:pPr algn="l">
              <a:spcAft>
                <a:spcPts val="0"/>
              </a:spcAft>
            </a:pPr>
            <a:r>
              <a:rPr sz="2700" b="1">
                <a:solidFill>
                  <a:srgbClr val="274B6C"/>
                </a:solidFill>
                <a:latin typeface="Microsoft YaHei"/>
              </a:rPr>
              <a:t>67.204 → 0.0423 ms</a:t>
            </a:r>
          </a:p>
        </p:txBody>
      </p:sp>
      <p:sp>
        <p:nvSpPr>
          <p:cNvPr id="47" name="TextBox 46"/>
          <p:cNvSpPr txBox="1"/>
          <p:nvPr/>
        </p:nvSpPr>
        <p:spPr>
          <a:xfrm>
            <a:off x="1097280" y="5779007"/>
            <a:ext cx="5669280" cy="457200"/>
          </a:xfrm>
          <a:prstGeom prst="rect">
            <a:avLst/>
          </a:prstGeom>
          <a:noFill/>
        </p:spPr>
        <p:txBody>
          <a:bodyPr wrap="square" lIns="0" tIns="0" rIns="0" bIns="0" anchor="ctr">
            <a:spAutoFit/>
          </a:bodyPr>
          <a:lstStyle/>
          <a:p>
            <a:pPr algn="l">
              <a:spcAft>
                <a:spcPts val="0"/>
              </a:spcAft>
            </a:pPr>
            <a:r>
              <a:rPr sz="1200" b="0">
                <a:solidFill>
                  <a:srgbClr val="5B636A"/>
                </a:solidFill>
                <a:latin typeface="Microsoft YaHei"/>
              </a:rPr>
              <a:t>100 点环图：v6 → v7</a:t>
            </a:r>
          </a:p>
        </p:txBody>
      </p:sp>
      <p:sp>
        <p:nvSpPr>
          <p:cNvPr id="48" name="TextBox 47"/>
          <p:cNvSpPr txBox="1"/>
          <p:nvPr/>
        </p:nvSpPr>
        <p:spPr>
          <a:xfrm>
            <a:off x="685800" y="6071616"/>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无环性由程序检查；检测失败时继续精确回溯。</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14 / v7 → v8</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v8：根据环秩调整森林检测时机</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15</a:t>
            </a:r>
          </a:p>
        </p:txBody>
      </p:sp>
      <p:sp>
        <p:nvSpPr>
          <p:cNvPr id="8" name="TextBox 7"/>
          <p:cNvSpPr txBox="1"/>
          <p:nvPr/>
        </p:nvSpPr>
        <p:spPr>
          <a:xfrm>
            <a:off x="777240" y="1709928"/>
            <a:ext cx="4572000" cy="274320"/>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v7：固定阈值</a:t>
            </a:r>
          </a:p>
        </p:txBody>
      </p:sp>
      <p:sp>
        <p:nvSpPr>
          <p:cNvPr id="9" name="TextBox 8"/>
          <p:cNvSpPr txBox="1"/>
          <p:nvPr/>
        </p:nvSpPr>
        <p:spPr>
          <a:xfrm>
            <a:off x="777240" y="2176272"/>
            <a:ext cx="5120640" cy="1901952"/>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初始环秩 &lt; 3：删去 5 个候选点后首次检测</a:t>
            </a:r>
          </a:p>
          <a:p>
            <a:pPr algn="l">
              <a:spcAft>
                <a:spcPts val="0"/>
              </a:spcAft>
            </a:pPr>
            <a:r>
              <a:rPr sz="1800" b="0">
                <a:solidFill>
                  <a:srgbClr val="1F252A"/>
                </a:solidFill>
                <a:latin typeface="Microsoft YaHei"/>
              </a:rPr>
              <a:t>初始环秩 ≥ 3：剩余 ≤ 15 点时首次检测</a:t>
            </a:r>
          </a:p>
          <a:p>
            <a:pPr algn="l">
              <a:spcAft>
                <a:spcPts val="0"/>
              </a:spcAft>
            </a:pPr>
            <a:r>
              <a:rPr sz="1800" b="0">
                <a:solidFill>
                  <a:srgbClr val="1F252A"/>
                </a:solidFill>
                <a:latin typeface="Microsoft YaHei"/>
              </a:rPr>
              <a:t>失败后：再删去 5 个候选点才复查</a:t>
            </a:r>
          </a:p>
        </p:txBody>
      </p:sp>
      <p:cxnSp>
        <p:nvCxnSpPr>
          <p:cNvPr id="10" name="Connector 9"/>
          <p:cNvCxnSpPr/>
          <p:nvPr/>
        </p:nvCxnSpPr>
        <p:spPr>
          <a:xfrm>
            <a:off x="6053328" y="1664208"/>
            <a:ext cx="0" cy="320040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0" y="1709928"/>
            <a:ext cx="4846320" cy="274320"/>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v8：跟随初始环秩</a:t>
            </a:r>
          </a:p>
        </p:txBody>
      </p:sp>
      <p:sp>
        <p:nvSpPr>
          <p:cNvPr id="12" name="TextBox 11"/>
          <p:cNvSpPr txBox="1"/>
          <p:nvPr/>
        </p:nvSpPr>
        <p:spPr>
          <a:xfrm>
            <a:off x="6400800" y="2194560"/>
            <a:ext cx="4526280" cy="411480"/>
          </a:xfrm>
          <a:prstGeom prst="rect">
            <a:avLst/>
          </a:prstGeom>
          <a:noFill/>
        </p:spPr>
        <p:txBody>
          <a:bodyPr wrap="square" lIns="0" tIns="0" rIns="0" bIns="0" anchor="ctr">
            <a:spAutoFit/>
          </a:bodyPr>
          <a:lstStyle/>
          <a:p>
            <a:pPr algn="l">
              <a:spcAft>
                <a:spcPts val="0"/>
              </a:spcAft>
            </a:pPr>
            <a:r>
              <a:rPr sz="2100" b="1">
                <a:solidFill>
                  <a:srgbClr val="274B6C"/>
                </a:solidFill>
                <a:latin typeface="Microsoft YaHei"/>
              </a:rPr>
              <a:t>r = 边数 − 点数 + 1</a:t>
            </a:r>
          </a:p>
        </p:txBody>
      </p:sp>
      <p:sp>
        <p:nvSpPr>
          <p:cNvPr id="13" name="TextBox 12"/>
          <p:cNvSpPr txBox="1"/>
          <p:nvPr/>
        </p:nvSpPr>
        <p:spPr>
          <a:xfrm>
            <a:off x="6400800" y="2871216"/>
            <a:ext cx="4663440" cy="43891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首次检测：删去 q = min(n, ⌈r/2⌉) 个候选点</a:t>
            </a:r>
          </a:p>
        </p:txBody>
      </p:sp>
      <p:sp>
        <p:nvSpPr>
          <p:cNvPr id="14" name="TextBox 13"/>
          <p:cNvSpPr txBox="1"/>
          <p:nvPr/>
        </p:nvSpPr>
        <p:spPr>
          <a:xfrm>
            <a:off x="6400800" y="3557016"/>
            <a:ext cx="4663440" cy="749808"/>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失败后：一次分支使候选点减少 ≥ 2 时复查</a:t>
            </a:r>
          </a:p>
        </p:txBody>
      </p:sp>
      <p:sp>
        <p:nvSpPr>
          <p:cNvPr id="15" name="Rectangle 14"/>
          <p:cNvSpPr/>
          <p:nvPr/>
        </p:nvSpPr>
        <p:spPr>
          <a:xfrm>
            <a:off x="768096" y="5148072"/>
            <a:ext cx="10643616" cy="630936"/>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5276088"/>
            <a:ext cx="10104120" cy="3474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环秩是打断所有环至少要删的边数；普通环上每个点连两条边，所以先从环秩的一半开始检测。这是经验起点。</a:t>
            </a:r>
          </a:p>
        </p:txBody>
      </p:sp>
      <p:sp>
        <p:nvSpPr>
          <p:cNvPr id="17" name="TextBox 16"/>
          <p:cNvSpPr txBox="1"/>
          <p:nvPr/>
        </p:nvSpPr>
        <p:spPr>
          <a:xfrm>
            <a:off x="685800" y="6071616"/>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取一个点可连同多个邻居一起移出候选集，因此 v8 倾向在这类分支后复查。</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15 / v2、v6、v7、v8</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结构优化的整体效果</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16</a:t>
            </a:r>
          </a:p>
        </p:txBody>
      </p:sp>
      <p:sp>
        <p:nvSpPr>
          <p:cNvPr id="8" name="Rectangle 7"/>
          <p:cNvSpPr/>
          <p:nvPr/>
        </p:nvSpPr>
        <p:spPr>
          <a:xfrm>
            <a:off x="768096" y="1810512"/>
            <a:ext cx="10652760" cy="612648"/>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1828800"/>
            <a:ext cx="2240279" cy="576072"/>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版本</a:t>
            </a:r>
          </a:p>
        </p:txBody>
      </p:sp>
      <p:sp>
        <p:nvSpPr>
          <p:cNvPr id="10" name="TextBox 9"/>
          <p:cNvSpPr txBox="1"/>
          <p:nvPr/>
        </p:nvSpPr>
        <p:spPr>
          <a:xfrm>
            <a:off x="3282696" y="1828800"/>
            <a:ext cx="2331720" cy="576072"/>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p95（ms）</a:t>
            </a:r>
          </a:p>
        </p:txBody>
      </p:sp>
      <p:sp>
        <p:nvSpPr>
          <p:cNvPr id="11" name="TextBox 10"/>
          <p:cNvSpPr txBox="1"/>
          <p:nvPr/>
        </p:nvSpPr>
        <p:spPr>
          <a:xfrm>
            <a:off x="5797296" y="1828800"/>
            <a:ext cx="2331720" cy="576072"/>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累计耗时（s）</a:t>
            </a:r>
          </a:p>
        </p:txBody>
      </p:sp>
      <p:sp>
        <p:nvSpPr>
          <p:cNvPr id="12" name="TextBox 11"/>
          <p:cNvSpPr txBox="1"/>
          <p:nvPr/>
        </p:nvSpPr>
        <p:spPr>
          <a:xfrm>
            <a:off x="8311896" y="1828800"/>
            <a:ext cx="3017520" cy="576072"/>
          </a:xfrm>
          <a:prstGeom prst="rect">
            <a:avLst/>
          </a:prstGeom>
          <a:noFill/>
        </p:spPr>
        <p:txBody>
          <a:bodyPr wrap="square" lIns="0" tIns="0" rIns="0" bIns="0" anchor="ctr">
            <a:spAutoFit/>
          </a:bodyPr>
          <a:lstStyle/>
          <a:p>
            <a:pPr algn="l">
              <a:spcAft>
                <a:spcPts val="0"/>
              </a:spcAft>
            </a:pPr>
            <a:r>
              <a:rPr sz="1600" b="1">
                <a:solidFill>
                  <a:srgbClr val="1F252A"/>
                </a:solidFill>
                <a:latin typeface="Microsoft YaHei"/>
              </a:rPr>
              <a:t>100 点环图（ms）</a:t>
            </a:r>
          </a:p>
        </p:txBody>
      </p:sp>
      <p:sp>
        <p:nvSpPr>
          <p:cNvPr id="13" name="TextBox 12"/>
          <p:cNvSpPr txBox="1"/>
          <p:nvPr/>
        </p:nvSpPr>
        <p:spPr>
          <a:xfrm>
            <a:off x="859536" y="2441448"/>
            <a:ext cx="2240279" cy="576072"/>
          </a:xfrm>
          <a:prstGeom prst="rect">
            <a:avLst/>
          </a:prstGeom>
          <a:noFill/>
        </p:spPr>
        <p:txBody>
          <a:bodyPr wrap="square" lIns="0" tIns="0" rIns="0" bIns="0" anchor="ctr">
            <a:spAutoFit/>
          </a:bodyPr>
          <a:lstStyle/>
          <a:p>
            <a:pPr algn="l">
              <a:spcAft>
                <a:spcPts val="0"/>
              </a:spcAft>
            </a:pPr>
            <a:r>
              <a:rPr sz="1600" b="0">
                <a:solidFill>
                  <a:srgbClr val="274B6C"/>
                </a:solidFill>
                <a:latin typeface="Microsoft YaHei"/>
              </a:rPr>
              <a:t>v2 基线</a:t>
            </a:r>
          </a:p>
        </p:txBody>
      </p:sp>
      <p:sp>
        <p:nvSpPr>
          <p:cNvPr id="14" name="TextBox 13"/>
          <p:cNvSpPr txBox="1"/>
          <p:nvPr/>
        </p:nvSpPr>
        <p:spPr>
          <a:xfrm>
            <a:off x="3282696" y="2441448"/>
            <a:ext cx="23317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25.145</a:t>
            </a:r>
          </a:p>
        </p:txBody>
      </p:sp>
      <p:sp>
        <p:nvSpPr>
          <p:cNvPr id="15" name="TextBox 14"/>
          <p:cNvSpPr txBox="1"/>
          <p:nvPr/>
        </p:nvSpPr>
        <p:spPr>
          <a:xfrm>
            <a:off x="5797296" y="2441448"/>
            <a:ext cx="23317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16.721</a:t>
            </a:r>
          </a:p>
        </p:txBody>
      </p:sp>
      <p:sp>
        <p:nvSpPr>
          <p:cNvPr id="16" name="TextBox 15"/>
          <p:cNvSpPr txBox="1"/>
          <p:nvPr/>
        </p:nvSpPr>
        <p:spPr>
          <a:xfrm>
            <a:off x="8311896" y="2441448"/>
            <a:ext cx="30175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69.597</a:t>
            </a:r>
          </a:p>
        </p:txBody>
      </p:sp>
      <p:cxnSp>
        <p:nvCxnSpPr>
          <p:cNvPr id="17" name="Connector 16"/>
          <p:cNvCxnSpPr/>
          <p:nvPr/>
        </p:nvCxnSpPr>
        <p:spPr>
          <a:xfrm>
            <a:off x="768096" y="3035808"/>
            <a:ext cx="1065276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9536" y="3054096"/>
            <a:ext cx="2240279" cy="576072"/>
          </a:xfrm>
          <a:prstGeom prst="rect">
            <a:avLst/>
          </a:prstGeom>
          <a:noFill/>
        </p:spPr>
        <p:txBody>
          <a:bodyPr wrap="square" lIns="0" tIns="0" rIns="0" bIns="0" anchor="ctr">
            <a:spAutoFit/>
          </a:bodyPr>
          <a:lstStyle/>
          <a:p>
            <a:pPr algn="l">
              <a:spcAft>
                <a:spcPts val="0"/>
              </a:spcAft>
            </a:pPr>
            <a:r>
              <a:rPr sz="1600" b="0">
                <a:solidFill>
                  <a:srgbClr val="274B6C"/>
                </a:solidFill>
                <a:latin typeface="Microsoft YaHei"/>
              </a:rPr>
              <a:t>v6 原始树 DP</a:t>
            </a:r>
          </a:p>
        </p:txBody>
      </p:sp>
      <p:sp>
        <p:nvSpPr>
          <p:cNvPr id="19" name="TextBox 18"/>
          <p:cNvSpPr txBox="1"/>
          <p:nvPr/>
        </p:nvSpPr>
        <p:spPr>
          <a:xfrm>
            <a:off x="3282696" y="3054096"/>
            <a:ext cx="23317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10.509</a:t>
            </a:r>
          </a:p>
        </p:txBody>
      </p:sp>
      <p:sp>
        <p:nvSpPr>
          <p:cNvPr id="20" name="TextBox 19"/>
          <p:cNvSpPr txBox="1"/>
          <p:nvPr/>
        </p:nvSpPr>
        <p:spPr>
          <a:xfrm>
            <a:off x="5797296" y="3054096"/>
            <a:ext cx="23317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11.041</a:t>
            </a:r>
          </a:p>
        </p:txBody>
      </p:sp>
      <p:sp>
        <p:nvSpPr>
          <p:cNvPr id="21" name="TextBox 20"/>
          <p:cNvSpPr txBox="1"/>
          <p:nvPr/>
        </p:nvSpPr>
        <p:spPr>
          <a:xfrm>
            <a:off x="8311896" y="3054096"/>
            <a:ext cx="30175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67.204</a:t>
            </a:r>
          </a:p>
        </p:txBody>
      </p:sp>
      <p:cxnSp>
        <p:nvCxnSpPr>
          <p:cNvPr id="22" name="Connector 21"/>
          <p:cNvCxnSpPr/>
          <p:nvPr/>
        </p:nvCxnSpPr>
        <p:spPr>
          <a:xfrm>
            <a:off x="768096" y="3648456"/>
            <a:ext cx="1065276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59536" y="3666744"/>
            <a:ext cx="2240279" cy="576072"/>
          </a:xfrm>
          <a:prstGeom prst="rect">
            <a:avLst/>
          </a:prstGeom>
          <a:noFill/>
        </p:spPr>
        <p:txBody>
          <a:bodyPr wrap="square" lIns="0" tIns="0" rIns="0" bIns="0" anchor="ctr">
            <a:spAutoFit/>
          </a:bodyPr>
          <a:lstStyle/>
          <a:p>
            <a:pPr algn="l">
              <a:spcAft>
                <a:spcPts val="0"/>
              </a:spcAft>
            </a:pPr>
            <a:r>
              <a:rPr sz="1600" b="0">
                <a:solidFill>
                  <a:srgbClr val="274B6C"/>
                </a:solidFill>
                <a:latin typeface="Microsoft YaHei"/>
              </a:rPr>
              <a:t>v7 剩余森林 DP</a:t>
            </a:r>
          </a:p>
        </p:txBody>
      </p:sp>
      <p:sp>
        <p:nvSpPr>
          <p:cNvPr id="24" name="TextBox 23"/>
          <p:cNvSpPr txBox="1"/>
          <p:nvPr/>
        </p:nvSpPr>
        <p:spPr>
          <a:xfrm>
            <a:off x="3282696" y="3666744"/>
            <a:ext cx="23317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2.294</a:t>
            </a:r>
          </a:p>
        </p:txBody>
      </p:sp>
      <p:sp>
        <p:nvSpPr>
          <p:cNvPr id="25" name="TextBox 24"/>
          <p:cNvSpPr txBox="1"/>
          <p:nvPr/>
        </p:nvSpPr>
        <p:spPr>
          <a:xfrm>
            <a:off x="5797296" y="3666744"/>
            <a:ext cx="23317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1.612</a:t>
            </a:r>
          </a:p>
        </p:txBody>
      </p:sp>
      <p:sp>
        <p:nvSpPr>
          <p:cNvPr id="26" name="TextBox 25"/>
          <p:cNvSpPr txBox="1"/>
          <p:nvPr/>
        </p:nvSpPr>
        <p:spPr>
          <a:xfrm>
            <a:off x="8311896" y="3666744"/>
            <a:ext cx="30175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0.0423</a:t>
            </a:r>
          </a:p>
        </p:txBody>
      </p:sp>
      <p:cxnSp>
        <p:nvCxnSpPr>
          <p:cNvPr id="27" name="Connector 26"/>
          <p:cNvCxnSpPr/>
          <p:nvPr/>
        </p:nvCxnSpPr>
        <p:spPr>
          <a:xfrm>
            <a:off x="768096" y="4261104"/>
            <a:ext cx="1065276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68096" y="4261104"/>
            <a:ext cx="10652760" cy="612648"/>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9536" y="4279392"/>
            <a:ext cx="2240279" cy="576072"/>
          </a:xfrm>
          <a:prstGeom prst="rect">
            <a:avLst/>
          </a:prstGeom>
          <a:noFill/>
        </p:spPr>
        <p:txBody>
          <a:bodyPr wrap="square" lIns="0" tIns="0" rIns="0" bIns="0" anchor="ctr">
            <a:spAutoFit/>
          </a:bodyPr>
          <a:lstStyle/>
          <a:p>
            <a:pPr algn="l">
              <a:spcAft>
                <a:spcPts val="0"/>
              </a:spcAft>
            </a:pPr>
            <a:r>
              <a:rPr sz="1600" b="0">
                <a:solidFill>
                  <a:srgbClr val="274B6C"/>
                </a:solidFill>
                <a:latin typeface="Microsoft YaHei"/>
              </a:rPr>
              <a:t>v8 检测时机调整</a:t>
            </a:r>
          </a:p>
        </p:txBody>
      </p:sp>
      <p:sp>
        <p:nvSpPr>
          <p:cNvPr id="30" name="TextBox 29"/>
          <p:cNvSpPr txBox="1"/>
          <p:nvPr/>
        </p:nvSpPr>
        <p:spPr>
          <a:xfrm>
            <a:off x="3282696" y="4279392"/>
            <a:ext cx="23317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0.795</a:t>
            </a:r>
          </a:p>
        </p:txBody>
      </p:sp>
      <p:sp>
        <p:nvSpPr>
          <p:cNvPr id="31" name="TextBox 30"/>
          <p:cNvSpPr txBox="1"/>
          <p:nvPr/>
        </p:nvSpPr>
        <p:spPr>
          <a:xfrm>
            <a:off x="5797296" y="4279392"/>
            <a:ext cx="23317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0.773</a:t>
            </a:r>
          </a:p>
        </p:txBody>
      </p:sp>
      <p:sp>
        <p:nvSpPr>
          <p:cNvPr id="32" name="TextBox 31"/>
          <p:cNvSpPr txBox="1"/>
          <p:nvPr/>
        </p:nvSpPr>
        <p:spPr>
          <a:xfrm>
            <a:off x="8311896" y="4279392"/>
            <a:ext cx="3017520" cy="576072"/>
          </a:xfrm>
          <a:prstGeom prst="rect">
            <a:avLst/>
          </a:prstGeom>
          <a:noFill/>
        </p:spPr>
        <p:txBody>
          <a:bodyPr wrap="square" lIns="0" tIns="0" rIns="0" bIns="0" anchor="ctr">
            <a:spAutoFit/>
          </a:bodyPr>
          <a:lstStyle/>
          <a:p>
            <a:pPr algn="l">
              <a:spcAft>
                <a:spcPts val="0"/>
              </a:spcAft>
            </a:pPr>
            <a:r>
              <a:rPr sz="1600" b="0">
                <a:solidFill>
                  <a:srgbClr val="1F252A"/>
                </a:solidFill>
                <a:latin typeface="Microsoft YaHei"/>
              </a:rPr>
              <a:t>0.0147</a:t>
            </a:r>
          </a:p>
        </p:txBody>
      </p:sp>
      <p:cxnSp>
        <p:nvCxnSpPr>
          <p:cNvPr id="33" name="Connector 32"/>
          <p:cNvCxnSpPr/>
          <p:nvPr/>
        </p:nvCxnSpPr>
        <p:spPr>
          <a:xfrm>
            <a:off x="768096" y="4873752"/>
            <a:ext cx="10652760" cy="0"/>
          </a:xfrm>
          <a:prstGeom prst="line">
            <a:avLst/>
          </a:prstGeom>
          <a:ln w="7620">
            <a:solidFill>
              <a:srgbClr val="D0D6D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5120640"/>
            <a:ext cx="10607040" cy="384048"/>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测试集：2,460 组；四个版本均 0 超时。</a:t>
            </a:r>
          </a:p>
        </p:txBody>
      </p:sp>
      <p:sp>
        <p:nvSpPr>
          <p:cNvPr id="35" name="TextBox 34"/>
          <p:cNvSpPr txBox="1"/>
          <p:nvPr/>
        </p:nvSpPr>
        <p:spPr>
          <a:xfrm>
            <a:off x="777240" y="5632704"/>
            <a:ext cx="10607040" cy="402336"/>
          </a:xfrm>
          <a:prstGeom prst="rect">
            <a:avLst/>
          </a:prstGeom>
          <a:noFill/>
        </p:spPr>
        <p:txBody>
          <a:bodyPr wrap="square" lIns="0" tIns="0" rIns="0" bIns="0" anchor="ctr">
            <a:spAutoFit/>
          </a:bodyPr>
          <a:lstStyle/>
          <a:p>
            <a:pPr algn="l">
              <a:spcAft>
                <a:spcPts val="0"/>
              </a:spcAft>
            </a:pPr>
            <a:r>
              <a:rPr sz="1500" b="0">
                <a:solidFill>
                  <a:srgbClr val="5B636A"/>
                </a:solidFill>
                <a:latin typeface="Microsoft YaHei"/>
              </a:rPr>
              <a:t>局部反例：100 点核心外围图，v7 为 0.0546 ms，v8 为 0.0967 ms。</a:t>
            </a:r>
          </a:p>
        </p:txBody>
      </p:sp>
      <p:sp>
        <p:nvSpPr>
          <p:cNvPr id="36" name="TextBox 35"/>
          <p:cNvSpPr txBox="1"/>
          <p:nvPr/>
        </p:nvSpPr>
        <p:spPr>
          <a:xfrm>
            <a:off x="685800" y="6172200"/>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耗时为同一轮程序内部计时；小于 1 ms 的差值不宜单独解读。</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01752"/>
            <a:ext cx="10698480" cy="21945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16 / 总结</a:t>
            </a:r>
          </a:p>
        </p:txBody>
      </p:sp>
      <p:sp>
        <p:nvSpPr>
          <p:cNvPr id="4" name="TextBox 3"/>
          <p:cNvSpPr txBox="1"/>
          <p:nvPr/>
        </p:nvSpPr>
        <p:spPr>
          <a:xfrm>
            <a:off x="658368" y="658368"/>
            <a:ext cx="10927080" cy="594360"/>
          </a:xfrm>
          <a:prstGeom prst="rect">
            <a:avLst/>
          </a:prstGeom>
          <a:noFill/>
        </p:spPr>
        <p:txBody>
          <a:bodyPr wrap="square" lIns="0" tIns="0" rIns="0" bIns="0" anchor="ctr">
            <a:spAutoFit/>
          </a:bodyPr>
          <a:lstStyle/>
          <a:p>
            <a:pPr algn="l">
              <a:spcAft>
                <a:spcPts val="0"/>
              </a:spcAft>
            </a:pPr>
            <a:r>
              <a:rPr sz="2800" b="1">
                <a:solidFill>
                  <a:srgbClr val="1F252A"/>
                </a:solidFill>
                <a:latin typeface="Microsoft YaHei"/>
              </a:rPr>
              <a:t>结论</a:t>
            </a:r>
          </a:p>
        </p:txBody>
      </p:sp>
      <p:cxnSp>
        <p:nvCxnSpPr>
          <p:cNvPr id="5" name="Connector 4"/>
          <p:cNvCxnSpPr/>
          <p:nvPr/>
        </p:nvCxnSpPr>
        <p:spPr>
          <a:xfrm>
            <a:off x="658368" y="1353312"/>
            <a:ext cx="10844784" cy="0"/>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501384"/>
            <a:ext cx="4572000" cy="164592"/>
          </a:xfrm>
          <a:prstGeom prst="rect">
            <a:avLst/>
          </a:prstGeom>
          <a:noFill/>
        </p:spPr>
        <p:txBody>
          <a:bodyPr wrap="square" lIns="0" tIns="0" rIns="0" bIns="0" anchor="ctr">
            <a:spAutoFit/>
          </a:bodyPr>
          <a:lstStyle/>
          <a:p>
            <a:pPr algn="l">
              <a:spcAft>
                <a:spcPts val="0"/>
              </a:spcAft>
            </a:pPr>
            <a:r>
              <a:rPr sz="900" b="0">
                <a:solidFill>
                  <a:srgbClr val="5B636A"/>
                </a:solidFill>
                <a:latin typeface="Microsoft YaHei"/>
              </a:rPr>
              <a:t>Safe Fruit · ADS Project 3</a:t>
            </a:r>
          </a:p>
        </p:txBody>
      </p:sp>
      <p:sp>
        <p:nvSpPr>
          <p:cNvPr id="7" name="TextBox 6"/>
          <p:cNvSpPr txBox="1"/>
          <p:nvPr/>
        </p:nvSpPr>
        <p:spPr>
          <a:xfrm>
            <a:off x="11018520" y="6473952"/>
            <a:ext cx="457200" cy="201168"/>
          </a:xfrm>
          <a:prstGeom prst="rect">
            <a:avLst/>
          </a:prstGeom>
          <a:noFill/>
        </p:spPr>
        <p:txBody>
          <a:bodyPr wrap="square" lIns="0" tIns="0" rIns="0" bIns="0" anchor="ctr">
            <a:spAutoFit/>
          </a:bodyPr>
          <a:lstStyle/>
          <a:p>
            <a:pPr algn="r">
              <a:spcAft>
                <a:spcPts val="0"/>
              </a:spcAft>
            </a:pPr>
            <a:r>
              <a:rPr sz="900" b="0">
                <a:solidFill>
                  <a:srgbClr val="5B636A"/>
                </a:solidFill>
                <a:latin typeface="Microsoft YaHei"/>
              </a:rPr>
              <a:t>17</a:t>
            </a:r>
          </a:p>
        </p:txBody>
      </p:sp>
      <p:sp>
        <p:nvSpPr>
          <p:cNvPr id="8" name="TextBox 7"/>
          <p:cNvSpPr txBox="1"/>
          <p:nvPr/>
        </p:nvSpPr>
        <p:spPr>
          <a:xfrm>
            <a:off x="795528" y="1773936"/>
            <a:ext cx="676656" cy="512064"/>
          </a:xfrm>
          <a:prstGeom prst="rect">
            <a:avLst/>
          </a:prstGeom>
          <a:noFill/>
        </p:spPr>
        <p:txBody>
          <a:bodyPr wrap="square" lIns="0" tIns="0" rIns="0" bIns="0" anchor="ctr">
            <a:spAutoFit/>
          </a:bodyPr>
          <a:lstStyle/>
          <a:p>
            <a:pPr algn="l">
              <a:spcAft>
                <a:spcPts val="0"/>
              </a:spcAft>
            </a:pPr>
            <a:r>
              <a:rPr sz="2300" b="1">
                <a:solidFill>
                  <a:srgbClr val="274B6C"/>
                </a:solidFill>
                <a:latin typeface="Microsoft YaHei"/>
              </a:rPr>
              <a:t>01</a:t>
            </a:r>
          </a:p>
        </p:txBody>
      </p:sp>
      <p:cxnSp>
        <p:nvCxnSpPr>
          <p:cNvPr id="9" name="Connector 8"/>
          <p:cNvCxnSpPr/>
          <p:nvPr/>
        </p:nvCxnSpPr>
        <p:spPr>
          <a:xfrm>
            <a:off x="1536192" y="1801368"/>
            <a:ext cx="0" cy="466344"/>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837943" y="1792224"/>
            <a:ext cx="1252728" cy="420624"/>
          </a:xfrm>
          <a:prstGeom prst="rect">
            <a:avLst/>
          </a:prstGeom>
          <a:noFill/>
        </p:spPr>
        <p:txBody>
          <a:bodyPr wrap="square" lIns="0" tIns="0" rIns="0" bIns="0" anchor="ctr">
            <a:spAutoFit/>
          </a:bodyPr>
          <a:lstStyle/>
          <a:p>
            <a:pPr algn="l">
              <a:spcAft>
                <a:spcPts val="0"/>
              </a:spcAft>
            </a:pPr>
            <a:r>
              <a:rPr sz="2000" b="1">
                <a:solidFill>
                  <a:srgbClr val="1F252A"/>
                </a:solidFill>
                <a:latin typeface="Microsoft YaHei"/>
              </a:rPr>
              <a:t>选点</a:t>
            </a:r>
          </a:p>
        </p:txBody>
      </p:sp>
      <p:sp>
        <p:nvSpPr>
          <p:cNvPr id="11" name="TextBox 10"/>
          <p:cNvSpPr txBox="1"/>
          <p:nvPr/>
        </p:nvSpPr>
        <p:spPr>
          <a:xfrm>
            <a:off x="3154680" y="1792224"/>
            <a:ext cx="8183879" cy="475488"/>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动态度数降低困难实例的搜索尾部。</a:t>
            </a:r>
          </a:p>
        </p:txBody>
      </p:sp>
      <p:sp>
        <p:nvSpPr>
          <p:cNvPr id="12" name="TextBox 11"/>
          <p:cNvSpPr txBox="1"/>
          <p:nvPr/>
        </p:nvSpPr>
        <p:spPr>
          <a:xfrm>
            <a:off x="795528" y="2807208"/>
            <a:ext cx="676656" cy="512064"/>
          </a:xfrm>
          <a:prstGeom prst="rect">
            <a:avLst/>
          </a:prstGeom>
          <a:noFill/>
        </p:spPr>
        <p:txBody>
          <a:bodyPr wrap="square" lIns="0" tIns="0" rIns="0" bIns="0" anchor="ctr">
            <a:spAutoFit/>
          </a:bodyPr>
          <a:lstStyle/>
          <a:p>
            <a:pPr algn="l">
              <a:spcAft>
                <a:spcPts val="0"/>
              </a:spcAft>
            </a:pPr>
            <a:r>
              <a:rPr sz="2300" b="1">
                <a:solidFill>
                  <a:srgbClr val="274B6C"/>
                </a:solidFill>
                <a:latin typeface="Microsoft YaHei"/>
              </a:rPr>
              <a:t>02</a:t>
            </a:r>
          </a:p>
        </p:txBody>
      </p:sp>
      <p:cxnSp>
        <p:nvCxnSpPr>
          <p:cNvPr id="13" name="Connector 12"/>
          <p:cNvCxnSpPr/>
          <p:nvPr/>
        </p:nvCxnSpPr>
        <p:spPr>
          <a:xfrm>
            <a:off x="1536192" y="2834639"/>
            <a:ext cx="0" cy="466345"/>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837943" y="2825496"/>
            <a:ext cx="1252728" cy="420624"/>
          </a:xfrm>
          <a:prstGeom prst="rect">
            <a:avLst/>
          </a:prstGeom>
          <a:noFill/>
        </p:spPr>
        <p:txBody>
          <a:bodyPr wrap="square" lIns="0" tIns="0" rIns="0" bIns="0" anchor="ctr">
            <a:spAutoFit/>
          </a:bodyPr>
          <a:lstStyle/>
          <a:p>
            <a:pPr algn="l">
              <a:spcAft>
                <a:spcPts val="0"/>
              </a:spcAft>
            </a:pPr>
            <a:r>
              <a:rPr sz="2000" b="1">
                <a:solidFill>
                  <a:srgbClr val="1F252A"/>
                </a:solidFill>
                <a:latin typeface="Microsoft YaHei"/>
              </a:rPr>
              <a:t>分量</a:t>
            </a:r>
          </a:p>
        </p:txBody>
      </p:sp>
      <p:sp>
        <p:nvSpPr>
          <p:cNvPr id="15" name="TextBox 14"/>
          <p:cNvSpPr txBox="1"/>
          <p:nvPr/>
        </p:nvSpPr>
        <p:spPr>
          <a:xfrm>
            <a:off x="3154680" y="2825496"/>
            <a:ext cx="8183879" cy="475488"/>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拆开独立子图，避免组合搜索。</a:t>
            </a:r>
          </a:p>
        </p:txBody>
      </p:sp>
      <p:sp>
        <p:nvSpPr>
          <p:cNvPr id="16" name="TextBox 15"/>
          <p:cNvSpPr txBox="1"/>
          <p:nvPr/>
        </p:nvSpPr>
        <p:spPr>
          <a:xfrm>
            <a:off x="795528" y="3840480"/>
            <a:ext cx="676656" cy="512064"/>
          </a:xfrm>
          <a:prstGeom prst="rect">
            <a:avLst/>
          </a:prstGeom>
          <a:noFill/>
        </p:spPr>
        <p:txBody>
          <a:bodyPr wrap="square" lIns="0" tIns="0" rIns="0" bIns="0" anchor="ctr">
            <a:spAutoFit/>
          </a:bodyPr>
          <a:lstStyle/>
          <a:p>
            <a:pPr algn="l">
              <a:spcAft>
                <a:spcPts val="0"/>
              </a:spcAft>
            </a:pPr>
            <a:r>
              <a:rPr sz="2300" b="1">
                <a:solidFill>
                  <a:srgbClr val="274B6C"/>
                </a:solidFill>
                <a:latin typeface="Microsoft YaHei"/>
              </a:rPr>
              <a:t>03</a:t>
            </a:r>
          </a:p>
        </p:txBody>
      </p:sp>
      <p:cxnSp>
        <p:nvCxnSpPr>
          <p:cNvPr id="17" name="Connector 16"/>
          <p:cNvCxnSpPr/>
          <p:nvPr/>
        </p:nvCxnSpPr>
        <p:spPr>
          <a:xfrm>
            <a:off x="1536192" y="3867912"/>
            <a:ext cx="0" cy="466344"/>
          </a:xfrm>
          <a:prstGeom prst="line">
            <a:avLst/>
          </a:prstGeom>
          <a:ln w="12700">
            <a:solidFill>
              <a:srgbClr val="D0D6D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837943" y="3858768"/>
            <a:ext cx="1252728" cy="420624"/>
          </a:xfrm>
          <a:prstGeom prst="rect">
            <a:avLst/>
          </a:prstGeom>
          <a:noFill/>
        </p:spPr>
        <p:txBody>
          <a:bodyPr wrap="square" lIns="0" tIns="0" rIns="0" bIns="0" anchor="ctr">
            <a:spAutoFit/>
          </a:bodyPr>
          <a:lstStyle/>
          <a:p>
            <a:pPr algn="l">
              <a:spcAft>
                <a:spcPts val="0"/>
              </a:spcAft>
            </a:pPr>
            <a:r>
              <a:rPr sz="2000" b="1">
                <a:solidFill>
                  <a:srgbClr val="1F252A"/>
                </a:solidFill>
                <a:latin typeface="Microsoft YaHei"/>
              </a:rPr>
              <a:t>结构</a:t>
            </a:r>
          </a:p>
        </p:txBody>
      </p:sp>
      <p:sp>
        <p:nvSpPr>
          <p:cNvPr id="19" name="TextBox 18"/>
          <p:cNvSpPr txBox="1"/>
          <p:nvPr/>
        </p:nvSpPr>
        <p:spPr>
          <a:xfrm>
            <a:off x="3154680" y="3858768"/>
            <a:ext cx="8183879" cy="475488"/>
          </a:xfrm>
          <a:prstGeom prst="rect">
            <a:avLst/>
          </a:prstGeom>
          <a:noFill/>
        </p:spPr>
        <p:txBody>
          <a:bodyPr wrap="square" lIns="0" tIns="0" rIns="0" bIns="0" anchor="ctr">
            <a:spAutoFit/>
          </a:bodyPr>
          <a:lstStyle/>
          <a:p>
            <a:pPr algn="l">
              <a:spcAft>
                <a:spcPts val="0"/>
              </a:spcAft>
            </a:pPr>
            <a:r>
              <a:rPr sz="1800" b="0">
                <a:solidFill>
                  <a:srgbClr val="1F252A"/>
                </a:solidFill>
                <a:latin typeface="Microsoft YaHei"/>
              </a:rPr>
              <a:t>树和回溯后形成的森林可由 DP 精确求解。</a:t>
            </a:r>
          </a:p>
        </p:txBody>
      </p:sp>
      <p:sp>
        <p:nvSpPr>
          <p:cNvPr id="20" name="Rectangle 19"/>
          <p:cNvSpPr/>
          <p:nvPr/>
        </p:nvSpPr>
        <p:spPr>
          <a:xfrm>
            <a:off x="777240" y="5120640"/>
            <a:ext cx="10625328" cy="685800"/>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9264" y="5248656"/>
            <a:ext cx="10241280" cy="411480"/>
          </a:xfrm>
          <a:prstGeom prst="rect">
            <a:avLst/>
          </a:prstGeom>
          <a:noFill/>
        </p:spPr>
        <p:txBody>
          <a:bodyPr wrap="square" lIns="0" tIns="0" rIns="0" bIns="0" anchor="ctr">
            <a:spAutoFit/>
          </a:bodyPr>
          <a:lstStyle/>
          <a:p>
            <a:pPr algn="l">
              <a:spcAft>
                <a:spcPts val="0"/>
              </a:spcAft>
            </a:pPr>
            <a:r>
              <a:rPr sz="1700" b="0">
                <a:solidFill>
                  <a:srgbClr val="1F252A"/>
                </a:solidFill>
                <a:latin typeface="Microsoft YaHei"/>
              </a:rPr>
              <a:t>最终版本 v8：精确求解；在 2,460 组基准中全部完成并通过答案校验。</a:t>
            </a:r>
          </a:p>
        </p:txBody>
      </p:sp>
      <p:sp>
        <p:nvSpPr>
          <p:cNvPr id="22" name="TextBox 21"/>
          <p:cNvSpPr txBox="1"/>
          <p:nvPr/>
        </p:nvSpPr>
        <p:spPr>
          <a:xfrm>
            <a:off x="685800" y="6071616"/>
            <a:ext cx="10789920" cy="310896"/>
          </a:xfrm>
          <a:prstGeom prst="rect">
            <a:avLst/>
          </a:prstGeom>
          <a:noFill/>
        </p:spPr>
        <p:txBody>
          <a:bodyPr wrap="square" lIns="0" tIns="0" rIns="0" bIns="0" anchor="ctr">
            <a:spAutoFit/>
          </a:bodyPr>
          <a:lstStyle/>
          <a:p>
            <a:pPr algn="l">
              <a:spcAft>
                <a:spcPts val="0"/>
              </a:spcAft>
            </a:pPr>
            <a:r>
              <a:rPr sz="1000" b="0">
                <a:solidFill>
                  <a:srgbClr val="5B636A"/>
                </a:solidFill>
                <a:latin typeface="Microsoft YaHei"/>
              </a:rPr>
              <a:t>最终提交代码：v8_cycle_tree_dp.c；完整实验与报告见项目仓库。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1504</Words>
  <Application>Microsoft Office PowerPoint</Application>
  <PresentationFormat>宽屏</PresentationFormat>
  <Paragraphs>304</Paragraphs>
  <Slides>17</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17</vt:i4>
      </vt:variant>
    </vt:vector>
  </HeadingPairs>
  <TitlesOfParts>
    <vt:vector size="22" baseType="lpstr">
      <vt:lpstr>等线</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伦希尔 伯</cp:lastModifiedBy>
  <cp:revision>2</cp:revision>
  <dcterms:created xsi:type="dcterms:W3CDTF">2013-01-27T09:14:16Z</dcterms:created>
  <dcterms:modified xsi:type="dcterms:W3CDTF">2026-10-31T08:02:36Z</dcterms:modified>
  <cp:category/>
</cp:coreProperties>
</file>